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28800" y="2926080"/>
            <a:ext cx="8503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面向工业5.0的AI模型交易市场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架构设计与激励机制研究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AI Model Exchange Market for Industry 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3200400" y="5852160"/>
            <a:ext cx="5760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48760" y="3776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ko-KR" altLang="en-US"/>
              <a:t>사연남</a:t>
            </a:r>
            <a:r>
              <a:rPr lang="en-US" altLang="ko-KR"/>
              <a:t>  50250321  XIEYANNAN</a:t>
            </a:r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研究背景与动机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工业5.0：从自动化到人机共创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欧盟2021年正式提出，三大核心价值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人本中心，可持续性，韧性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边缘AI模型成为企业核心数字资产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跨企业模型安全共享成为关键瓶颈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现有平台的结构性局限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开源免费为主，缺乏商业交易机制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无工业级模型质量验证与溯源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知识产权保护薄弱，无公平激励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1,900亿美元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2025全球AI市场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92608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30万+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HuggingFace模型数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48056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663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三大挑战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安全，公平，高效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核心问题：如何构建安全、高效、公平的AI模型交易市场？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核心代码实现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CORE IMPLEMENTATION — 全部代码仅在本页展示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环境: Python 3.10+ | PyTorch 2.1.0 | Flower 1.5.0 | Hyperledger Fabric 2.5 | Opacus 1.4.0 | 完整代码见技术附录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1. 联邦学习 — 分布感知聚合 (proposed_server.py)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719072"/>
            <a:ext cx="138988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def __init__(self, num_classes=10, temperature=1.0):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self.num_classes = num_classes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self.temperature = temperature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def aggregate_fit(self, round, results, failures):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1) 估算各客户端本地数据分布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dists = {cid: self._estimate_distribution(p)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for cid, p in enumerate(results)}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2) JS散度 -&gt; 分布相似性权重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uniform = np.ones(nc) / nc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weights = {cid: np.exp(-jensenshannon(d, uniform)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/ self.temperature) for cid, d in dists.items()}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3) 样本权重 x 分布权重 -&gt; 加权聚合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agg = [sum(p*n*weights[cid] for (p,n),cid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in zip(results,dists)) / sum(n*weights[cid]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for (_,n),cid in zip(results,dists))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for _ in range(len(results[0][0]))]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return agg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2. 区块链 — 模型注册链码 (model-registry.js)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0832" y="1719072"/>
            <a:ext cx="1389888" cy="0"/>
          </a:xfrm>
          <a:prstGeom prst="line">
            <a:avLst/>
          </a:prstGeom>
          <a:ln w="1016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async registerModel(ctx, modelId, ownerId, meta):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const exists = await this.modelExists(ctx, modelId);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if (exists) throw new Error('Already exists');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const model = {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modelId, ownerId,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metadata: JSON.parse(meta),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ipfsHash: meta.ipfsHash || '',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status: 'REGISTERED',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registeredAt: new Date().toISOString(),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transactionCount: 0, reputationScore: 100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};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await ctx.stub.putState(modelId,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Buffer.from(JSON.stringify(model)));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ctx.stub.setEvent('ModelRegistered',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Buffer.from(JSON.stringify({modelId,ownerId})));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return JSON.stringify(model);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3. 激励机制 — TMC-Shapley (tmc_shapley.py)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2" y="1719072"/>
            <a:ext cx="1389888" cy="0"/>
          </a:xfrm>
          <a:prstGeom prst="line">
            <a:avLst/>
          </a:prstGeom>
          <a:ln w="101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class TMCShapley: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__init__(self, U, nodes, M=5000):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self.U = U; self.nodes = nodes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self.n = len(nodes); self.M = M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compute(self):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sums = {n: 0.0 for n in self.nodes}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for m in range(self.M):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perm = self.rng.permutation(self.nodes)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prev = self.U([])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for node in perm: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cur = self.U(perm[:perm.index(node)+1])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marginal = cur - prev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if marginal &lt; 0.001: break  # 截断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sums[node] += marginal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prev = cur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return {n: s/self.M for n, s in sums.items()}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# O(M*n^2)替代O(2^n), n=100时误差&lt;0.5%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66928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19709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4. 差分隐私 — DP-SGD训练 (differential_privacy.py)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" y="4416552"/>
            <a:ext cx="2194560" cy="0"/>
          </a:xfrm>
          <a:prstGeom prst="line">
            <a:avLst/>
          </a:prstGeom>
          <a:ln w="1016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2" y="4434840"/>
            <a:ext cx="5522976" cy="16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class DPClient: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__init__(self, model, optimizer, eps=1.0):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self.privacy_engine = PrivacyEngine()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self.model = ModuleValidator.fix(model)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self.model, self.opt, _ = \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self.privacy_engine.make_private(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module=self.model,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optimizer=optimizer,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noise_multiplier=2.0,  # eps=1.0校准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max_grad_norm=1.0,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delta=1e-5)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60520"/>
            <a:ext cx="548640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197096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5. 实验主程序 — 联邦学习运行 (run_fl_experiment.py)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82512" y="4416552"/>
            <a:ext cx="212140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4434840"/>
            <a:ext cx="5340096" cy="2109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def run_experiment(config):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dataset = config["dataset"]   # CIFAR10/100/MNIST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n_clients = config["num_clients"]  # 10/50/100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alpha = config["alpha"]       # Dirichlet浓度: 0.1/0.5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method = config["method"]     # FedAvg/Prox/SCAFFOLD/Ours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train, test, nc = load_dataset(dataset)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labels = np.array(train.targets)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partitions = dirichlet_partition(labels,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    n_clients, alpha, seed=42)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clients = [FlowerClient(cid,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DataLoader(Subset(train, partitions[cid]),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batch_size=64, shuffle=True),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DataLoader(test, batch_size=128),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model=ResNet18(num_classes=nc))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for cid in range(n_clients)]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研究目标与创新点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OBJECTIVES &amp; APPROACH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六大研究目标</a:t>
            </a:r>
          </a:p>
        </p:txBody>
      </p:sp>
      <p:cxnSp>
        <p:nvCxnSpPr>
          <p:cNvPr id="7" name="Connector 6"/>
          <p:cNvCxnSpPr/>
          <p:nvPr>
            <p:custDataLst>
              <p:tags r:id="rId3"/>
            </p:custDataLst>
          </p:nvPr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40080" y="2103120"/>
            <a:ext cx="320040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设计工业5.0五层混合架构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契约理论 - 三级质量契约菜单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四维度贡献度评估模型(CCS)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lang="en-US"/>
              <a:t>4</a:t>
            </a:r>
            <a:r>
              <a:t>. DP+隐私保护一体化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r>
              <a:t>. 原型系统+多维度实验验证</a:t>
            </a: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三项核心创新</a:t>
            </a:r>
          </a:p>
        </p:txBody>
      </p:sp>
      <p:cxnSp>
        <p:nvCxnSpPr>
          <p:cNvPr id="11" name="Connector 10"/>
          <p:cNvCxnSpPr/>
          <p:nvPr>
            <p:custDataLst>
              <p:tags r:id="rId7"/>
            </p:custDataLst>
          </p:nvPr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480560" y="2103120"/>
            <a:ext cx="32004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创新一: 分布式控制+集中式执行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     分层混合架构设计范式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创新二: 契约理论+双层激励机制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创新三: 首次量化AI模型市场</a:t>
            </a: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cxnSp>
        <p:nvCxnSpPr>
          <p:cNvPr id="15" name="Connector 14"/>
          <p:cNvCxnSpPr/>
          <p:nvPr>
            <p:custDataLst>
              <p:tags r:id="rId11"/>
            </p:custDataLst>
          </p:nvPr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3210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边缘计算 + 联邦学习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区块链 + IPFS (智能合约)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隐私计算 (DP/SMPC/HE)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博弈机制 (契约/Shapley)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五层混合架构设计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ARCHITECTURE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64008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5 应用层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3291840" y="1371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Web门户 | 移动APP | API网关 | MES/ERP集成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400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4 服务层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3291840" y="20299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模型注册 | 搜索匹配(&gt;=85%) | 交易结算 | 评价反馈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96896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0080" y="2670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3 联邦学习层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3291840" y="2688336"/>
            <a:ext cx="80467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FedAvg / FedProx / SCAFFOLD | 分布感知权重调节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4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40080" y="33284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 隐私计算层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91840" y="334670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本地DP | SMPC(SPDZ协议) | 同态加密HE -- 三级安全可选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1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640080" y="39867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 区块链层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3291840" y="4005071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Hyperledger Fabric联盟链 | 智能合约自动结算 | IPFS(CID锚定)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设计理念: 底层去中心化保障安全与公平 -&gt; 上层集中式服务优化效率与体验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557784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需求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实时性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可扩展性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公平性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&lt;=500ms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&gt;=95%检测率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100+节点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epsilon&lt;=1.0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基尼&lt;=0.35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&gt;=99.5%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核心数据流程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DATA FLOW DESIGN</a:t>
            </a:r>
          </a:p>
        </p:txBody>
      </p:sp>
      <p:pic>
        <p:nvPicPr>
          <p:cNvPr id="5" name="Picture 4" descr="fig3_2_data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21995"/>
            <a:ext cx="10515600" cy="6309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(a) 注册: 边缘设备 -&gt; 特征提取 -&gt; DP脱敏 -&gt; 服务注册 -&gt; 区块链存证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7125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(b) 搜索: 用户查询 -&gt; 匹配引擎 -&gt; 多因子排序 -&gt; 结果返回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(c) 交易: 发起 -&gt; 智能合约验证 -&gt; IPFS传输 -&gt; 确认 -&gt; 收益分配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3145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(d) 联邦学习: 本地训练 -&gt; 梯度加密 -&gt; SMPC安全聚合 -&gt; 全局更新 -&gt; 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双层激励机制设计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INCENTIVE MECHANISM: CONTRACT + SHAPLEY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第一层：契约理论 - 三级质量契约菜单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783080"/>
            <a:ext cx="21031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等级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报酬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 Basic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&gt;=85%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&lt;=50ms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Token + 绩效奖金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&lt;=30ms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Token + 绩效奖金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 Premium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&lt;=15ms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Token + 绩效奖金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- Self-Selection: 提供方自发选择匹配自身质量的契约 -&gt; 消除逆向选择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第二层：Shapley值 - 公平分配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200400" y="1783080"/>
            <a:ext cx="320040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R_i = R_total x (phi_i / Sum phi_j)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phi_i: 节点i在所有可能联盟加入顺序中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对模型性能的 平均边际贡献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属性: 效率性 + 对称性 + 虚拟性 + 可加性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唯一满足四条公理的公平分配方案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TMC-Shapley近似: O(M*n^2) 替代 O(2^n)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n=100, M=5000 -&gt; 误差 &lt; 0.5%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四维度综合贡献评分 (CCS)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617720"/>
            <a:ext cx="25603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7548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CCS = 0.40 x 模型质量(C_q) + 0.25 x 数据贡献(C_d) + 0.20 x 计算资源(C_c) + 0.15 x 信誉(C_r)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C_q: 基准数据集准确率/F1/AUC    C_d: 数据量 x 熵多样性    C_c: GPU时/通信带宽    C_r: 历史履约+满意度+持续性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权重动态策略: 市场初期(提升C_c/C_r吸引参与) -&gt; 成熟期(提升C_q引导质量竞争) -&gt; 自适应调度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实验设置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EXPERIMENTAL SETUP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实验要素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MNIST / Fashion-MNIST / CIFAR-10 / CIFAR-100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模型架构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ResNet-18 (PyTorch 2.1.0)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Non-IID划分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Dirichlet分布 alpha=0.1(高度异质) / 0.5(中度)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节点规模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n = 10, 50,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通信轮次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200轮，每轮30%客户端随机参与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本地训练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SGD优化器(lr=0.01,momentum=0.9), 5 epochs/batch=64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重复实验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5次独立重复，报告均值 +- 标准差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对比方法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联邦学习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FedAvg / FedProx / SCAFFOLD / FedNova / 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激励机制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无激励 / 固定奖励 / 信誉驱动 / 市场价 / Shapley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无保护 / DP(epsilon=0.5,1.0,2.0,5.0) / SMPC+DP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安全攻击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成员推理攻击(MIA) / 模型逆向攻击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五项研究假设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709160"/>
            <a:ext cx="21031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H1: 所提方法Non-IID准确率显著优于FedAvg (目标: +3pp)           H2: Shapley分配基尼系数显著低于无激励 (目标: &lt;0.35)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H3: 差分隐私存在隐私-准确率经典权衡 (目标: epsilon=1.0平衡点)      H4: 区块链提升可信度且引入可接受开销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H5: 100节点环境下TPS&gt;=800且交易成功率&gt;=95% (工业级可行性验证)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联邦学习性能结果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FEDERATED LEARNING PERFORMANCE</a:t>
            </a:r>
          </a:p>
        </p:txBody>
      </p:sp>
      <p:pic>
        <p:nvPicPr>
          <p:cNvPr id="5" name="Picture 4" descr="fig5_1_fl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7200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准确率(%)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75%收敛轮次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FedAvg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FedAvg (基线)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78.42 +- 0.83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FedProx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79.81 +- 0.65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+1.39pp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SCAFFOLD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80.33 +- 0.52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+1.91pp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所提方法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81.59 +- 0.48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+3.17pp***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关键发现: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所提方法 = 最高准确率 + 最快收敛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较FedAvg提升3.17pp (p&lt;0.01)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收敛加速18.7% (187-&gt;152轮)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SCAFFOLD通信开销为所提方法的1.7x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- 4个数据集一致领先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CIFAR-100: +3.16pp vs FedAvg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激励与隐私保护结果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INCENTIVE &amp; PRIVACY RESULTS</a:t>
            </a:r>
          </a:p>
        </p:txBody>
      </p:sp>
      <p:pic>
        <p:nvPicPr>
          <p:cNvPr id="5" name="Picture 4" descr="fig5_4_incen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771900"/>
          </a:xfrm>
          <a:prstGeom prst="rect">
            <a:avLst/>
          </a:prstGeom>
        </p:spPr>
      </p:pic>
      <p:pic>
        <p:nvPicPr>
          <p:cNvPr id="6" name="Picture 5" descr="fig5_5_priva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Shapley激励机制效果: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参与率: 62.3% -&gt; 87.4% (+25.1pp)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基尼系数: 0.487 -&gt; 0.285 (降41.5%)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高质量提供方占比: 28.5% -&gt; 56.7%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Shapley偏差仅0.071 (公平性最优)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公平与效率实现统一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隐私-准确率权衡: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MIA攻击成功率: 68.3% -&gt; 12.3% (降82%)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准确率损失仅1.78pp (79.81%)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epsilon=1.0 为实用平衡点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SMPC+DP联合: MIA降至9.6%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epsilon=0.5时噪声过大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(准确率骤降至77.43%)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系统性能与三元权衡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SYSTEM PERFORMANCE &amp; TRILEMMA</a:t>
            </a:r>
          </a:p>
        </p:txBody>
      </p:sp>
      <p:pic>
        <p:nvPicPr>
          <p:cNvPr id="5" name="Picture 4" descr="fig5_6_scal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系统可扩展性 (100节点):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TPS: 820, 注册延迟: 44ms (远优于&lt;=500ms)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交易成功率: 95.8% (达成&gt;=95%目标)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伪造检测率: 98.9%, 漏报率: 0.0%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存储开销17.5% (区块链共识可控范围)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H1-H5 五项假设全部成立 (p&lt;0.01)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三元权衡 (Trilemma) 实证: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模型性能 / 隐私保护 / 交易可信度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三者不可同时最优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推荐工业运行点: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epsilon=1.0, TPS=820, Acc=79.81%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首次为AI模型市场提供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三元权衡的实证量化数据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架构贡献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首次提出五层混合架构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四技术(边缘/联邦/区块链/隐私)融合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三级隐私保护可选方案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分布式控制+集中式执行范式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机制贡献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契约理论+Shapley双层激励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三级质量契约消除逆向选择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TMC-Shapley公平分配(&lt;0.5%误差)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四维CCS贡献评估模型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实证贡献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+3.17pp准确率 | 基尼系数0.285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MIA防御82% | 820TPS/95.8%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五项假设全部成立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首次量化三元权衡关系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未来方向: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- 1000+节点真实测试床验证    - 真实工业数据(制造/物流/能源)纵向研究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多智能体强化学习(MARL)自适应激励调优    - ISO/IEC JTC 1/SC 42行业标准化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谢谢！欢迎提问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6583680"/>
            <a:ext cx="3931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2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3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4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5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6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7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8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9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0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1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2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3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4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5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6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7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8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9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0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1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2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7041</Words>
  <Application>WPS 演示</Application>
  <PresentationFormat>On-screen Show (4:3)</PresentationFormat>
  <Paragraphs>504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晴舒曦</cp:lastModifiedBy>
  <cp:revision>4</cp:revision>
  <dcterms:created xsi:type="dcterms:W3CDTF">2013-01-27T09:14:00Z</dcterms:created>
  <dcterms:modified xsi:type="dcterms:W3CDTF">2026-06-05T00:56:00Z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9A3775D2D8084AC49358B8B6B5E3EF67_12</vt:lpwstr>
  </property>
  <property fmtid="{D5CDD505-2E9C-101B-9397-08002B2CF9AE}" pid="3" name="KSOProductBuildVer">
    <vt:lpwstr>2052-12.1.0.25225</vt:lpwstr>
  </property>
</Properties>
</file>