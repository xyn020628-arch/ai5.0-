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1828800" y="2926080"/>
            <a:ext cx="8503920" cy="0"/>
          </a:xfrm>
          <a:prstGeom prst="line">
            <a:avLst/>
          </a:prstGeom>
          <a:ln w="12700">
            <a:solidFill>
              <a:srgbClr val="1A52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1828800" y="1645920"/>
            <a:ext cx="8503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面向工业5.0的AI模型交易市场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468880"/>
            <a:ext cx="8503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1A5276"/>
                </a:solidFill>
                <a:latin typeface="微软雅黑" panose="020B0503020204020204" charset="-122"/>
              </a:defRPr>
            </a:pPr>
            <a:r>
              <a:t>架构设计与激励机制研究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29184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5A5A6"/>
                </a:solidFill>
                <a:latin typeface="微软雅黑" panose="020B0503020204020204" charset="-122"/>
              </a:defRPr>
            </a:pPr>
            <a:r>
              <a:t>AI Model Exchange Market for Industry 5.0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754880"/>
            <a:ext cx="8503920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2C3E50"/>
                </a:solidFill>
                <a:latin typeface="微软雅黑" panose="020B0503020204020204" charset="-122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828800" y="5303520"/>
            <a:ext cx="8503920" cy="275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5A5A6"/>
                </a:solidFill>
                <a:latin typeface="微软雅黑" panose="020B0503020204020204" charset="-122"/>
              </a:defRPr>
            </a:pPr>
          </a:p>
        </p:txBody>
      </p:sp>
      <p:cxnSp>
        <p:nvCxnSpPr>
          <p:cNvPr id="8" name="Connector 7"/>
          <p:cNvCxnSpPr/>
          <p:nvPr/>
        </p:nvCxnSpPr>
        <p:spPr>
          <a:xfrm>
            <a:off x="3200400" y="5852160"/>
            <a:ext cx="5760720" cy="0"/>
          </a:xfrm>
          <a:prstGeom prst="line">
            <a:avLst/>
          </a:prstGeom>
          <a:ln w="12700">
            <a:solidFill>
              <a:srgbClr val="1A52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5A5A6"/>
                </a:solidFill>
                <a:latin typeface="微软雅黑" panose="020B0503020204020204" charset="-122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研究背景与动机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914400"/>
            <a:ext cx="11064240" cy="0"/>
          </a:xfrm>
          <a:prstGeom prst="line">
            <a:avLst/>
          </a:prstGeom>
          <a:ln w="25400">
            <a:solidFill>
              <a:srgbClr val="1A52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5A5A6"/>
                </a:solidFill>
                <a:latin typeface="微软雅黑" panose="020B0503020204020204" charset="-122"/>
              </a:defRPr>
            </a:pPr>
            <a:r>
              <a:t>BACKGROUND &amp; MOTIVATION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工业5.0：从自动化到人机共创</a:t>
            </a:r>
          </a:p>
          <a:p>
            <a:pPr>
              <a:spcAft>
                <a:spcPts val="300"/>
              </a:spcAft>
              <a:defRPr sz="1300">
                <a:solidFill>
                  <a:srgbClr val="2C3E50"/>
                </a:solidFill>
                <a:latin typeface="微软雅黑" panose="020B0503020204020204" charset="-122"/>
              </a:defRPr>
            </a:pPr>
          </a:p>
          <a:p>
            <a:pPr>
              <a:spcAft>
                <a:spcPts val="300"/>
              </a:spcAft>
              <a:defRPr sz="13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- 欧盟2021年正式提出，三大核心价值</a:t>
            </a:r>
          </a:p>
          <a:p>
            <a:pPr>
              <a:spcAft>
                <a:spcPts val="300"/>
              </a:spcAft>
              <a:defRPr sz="13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  人本中心，可持续性，韧性</a:t>
            </a:r>
          </a:p>
          <a:p>
            <a:pPr>
              <a:spcAft>
                <a:spcPts val="300"/>
              </a:spcAft>
              <a:defRPr sz="13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- 边缘AI模型成为企业核心数字资产</a:t>
            </a:r>
          </a:p>
          <a:p>
            <a:pPr>
              <a:spcAft>
                <a:spcPts val="300"/>
              </a:spcAft>
              <a:defRPr sz="13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- 跨企业模型安全共享成为关键瓶颈</a:t>
            </a:r>
          </a:p>
          <a:p>
            <a:pPr>
              <a:spcAft>
                <a:spcPts val="300"/>
              </a:spcAft>
              <a:defRPr sz="1300">
                <a:solidFill>
                  <a:srgbClr val="2C3E50"/>
                </a:solidFill>
                <a:latin typeface="微软雅黑" panose="020B0503020204020204" charset="-122"/>
              </a:defRPr>
            </a:pPr>
          </a:p>
          <a:p>
            <a:pPr>
              <a:spcAft>
                <a:spcPts val="300"/>
              </a:spcAft>
              <a:defRPr sz="13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现有平台的结构性局限</a:t>
            </a:r>
          </a:p>
          <a:p>
            <a:pPr>
              <a:spcAft>
                <a:spcPts val="300"/>
              </a:spcAft>
              <a:defRPr sz="13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- 开源免费为主，缺乏商业交易机制</a:t>
            </a:r>
          </a:p>
          <a:p>
            <a:pPr>
              <a:spcAft>
                <a:spcPts val="300"/>
              </a:spcAft>
              <a:defRPr sz="13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- 无工业级模型质量验证与溯源</a:t>
            </a:r>
          </a:p>
          <a:p>
            <a:pPr>
              <a:spcAft>
                <a:spcPts val="300"/>
              </a:spcAft>
              <a:defRPr sz="13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- 知识产权保护薄弱，无公平激励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0" y="1371600"/>
            <a:ext cx="5029200" cy="128016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0" y="155448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1A5276"/>
                </a:solidFill>
                <a:latin typeface="微软雅黑" panose="020B0503020204020204" charset="-122"/>
              </a:defRPr>
            </a:pPr>
            <a:r>
              <a:t>1,900亿美元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21488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5A5A6"/>
                </a:solidFill>
                <a:latin typeface="微软雅黑" panose="020B0503020204020204" charset="-122"/>
              </a:defRPr>
            </a:pPr>
            <a:r>
              <a:t>2025全球AI市场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0" y="2926080"/>
            <a:ext cx="5029200" cy="128016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0" y="310896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1A5276"/>
                </a:solidFill>
                <a:latin typeface="微软雅黑" panose="020B0503020204020204" charset="-122"/>
              </a:defRPr>
            </a:pPr>
            <a:r>
              <a:t>30万+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3703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5A5A6"/>
                </a:solidFill>
                <a:latin typeface="微软雅黑" panose="020B0503020204020204" charset="-122"/>
              </a:defRPr>
            </a:pPr>
            <a:r>
              <a:t>HuggingFace模型数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0" y="4480560"/>
            <a:ext cx="5029200" cy="128016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0" y="466344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1A5276"/>
                </a:solidFill>
                <a:latin typeface="微软雅黑" panose="020B0503020204020204" charset="-122"/>
              </a:defRPr>
            </a:pPr>
            <a:r>
              <a:t>三大挑战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5257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5A5A6"/>
                </a:solidFill>
                <a:latin typeface="微软雅黑" panose="020B0503020204020204" charset="-122"/>
              </a:defRPr>
            </a:pPr>
            <a:r>
              <a:t>安全，公平，高效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943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C0392B"/>
                </a:solidFill>
                <a:latin typeface="微软雅黑" panose="020B0503020204020204" charset="-122"/>
              </a:defRPr>
            </a:pPr>
            <a:r>
              <a:t>核心问题：如何构建安全、高效、公平的AI模型交易市场？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5A5A6"/>
                </a:solidFill>
                <a:latin typeface="微软雅黑" panose="020B0503020204020204" charset="-122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核心代码实现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914400"/>
            <a:ext cx="11064240" cy="0"/>
          </a:xfrm>
          <a:prstGeom prst="line">
            <a:avLst/>
          </a:prstGeom>
          <a:ln w="25400">
            <a:solidFill>
              <a:srgbClr val="1A52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5A5A6"/>
                </a:solidFill>
                <a:latin typeface="微软雅黑" panose="020B0503020204020204" charset="-122"/>
              </a:defRPr>
            </a:pPr>
            <a:r>
              <a:t>CORE IMPLEMENTATION — 全部代码仅在本页展示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5A5A6"/>
                </a:solidFill>
                <a:latin typeface="微软雅黑" panose="020B0503020204020204" charset="-122"/>
              </a:defRPr>
            </a:pPr>
            <a:r>
              <a:t>环境: Python 3.10+ | PyTorch 2.1.0 | Flower 1.5.0 | Hyperledger Fabric 2.5 | Opacus 1.4.0 | 完整代码见技术附录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463040"/>
            <a:ext cx="3657600" cy="2468880"/>
          </a:xfrm>
          <a:prstGeom prst="roundRect">
            <a:avLst/>
          </a:prstGeom>
          <a:solidFill>
            <a:srgbClr val="FAFAFA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1499616"/>
            <a:ext cx="351129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A5276"/>
                </a:solidFill>
                <a:latin typeface="微软雅黑" panose="020B0503020204020204" charset="-122"/>
              </a:defRPr>
            </a:pPr>
            <a:r>
              <a:t>1. 联邦学习 — 分布感知聚合 (proposed_server.py)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30352" y="1719072"/>
            <a:ext cx="1389888" cy="0"/>
          </a:xfrm>
          <a:prstGeom prst="line">
            <a:avLst/>
          </a:prstGeom>
          <a:ln w="10160">
            <a:solidFill>
              <a:srgbClr val="1A52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30352" y="1737360"/>
            <a:ext cx="3511296" cy="2157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700">
                <a:solidFill>
                  <a:srgbClr val="2D3436"/>
                </a:solidFill>
                <a:latin typeface="Consolas" panose="020B0609020204030204"/>
              </a:defRPr>
            </a:pPr>
            <a:r>
              <a:t>def __init__(self, num_classes=10, temperature=1.0):</a:t>
            </a:r>
          </a:p>
          <a:p>
            <a:pPr>
              <a:spcAft>
                <a:spcPts val="100"/>
              </a:spcAft>
              <a:defRPr sz="700">
                <a:solidFill>
                  <a:srgbClr val="2D3436"/>
                </a:solidFill>
                <a:latin typeface="Consolas" panose="020B0609020204030204"/>
              </a:defRPr>
            </a:pPr>
            <a:r>
              <a:t>    self.num_classes = num_classes</a:t>
            </a:r>
          </a:p>
          <a:p>
            <a:pPr>
              <a:spcAft>
                <a:spcPts val="100"/>
              </a:spcAft>
              <a:defRPr sz="700">
                <a:solidFill>
                  <a:srgbClr val="2D3436"/>
                </a:solidFill>
                <a:latin typeface="Consolas" panose="020B0609020204030204"/>
              </a:defRPr>
            </a:pPr>
            <a:r>
              <a:t>    self.temperature = temperature</a:t>
            </a:r>
          </a:p>
          <a:p>
            <a:pPr>
              <a:spcAft>
                <a:spcPts val="100"/>
              </a:spcAft>
              <a:defRPr sz="700">
                <a:solidFill>
                  <a:srgbClr val="2D3436"/>
                </a:solidFill>
                <a:latin typeface="Consolas" panose="020B0609020204030204"/>
              </a:defRPr>
            </a:pPr>
          </a:p>
          <a:p>
            <a:pPr>
              <a:spcAft>
                <a:spcPts val="100"/>
              </a:spcAft>
              <a:defRPr sz="700">
                <a:solidFill>
                  <a:srgbClr val="2D3436"/>
                </a:solidFill>
                <a:latin typeface="Consolas" panose="020B0609020204030204"/>
              </a:defRPr>
            </a:pPr>
            <a:r>
              <a:t>def aggregate_fit(self, round, results, failures):</a:t>
            </a:r>
          </a:p>
          <a:p>
            <a:pPr>
              <a:spcAft>
                <a:spcPts val="100"/>
              </a:spcAft>
              <a:defRPr sz="700">
                <a:solidFill>
                  <a:srgbClr val="2D3436"/>
                </a:solidFill>
                <a:latin typeface="Consolas" panose="020B0609020204030204"/>
              </a:defRPr>
            </a:pPr>
            <a:r>
              <a:t>    # 1) 估算各客户端本地数据分布</a:t>
            </a:r>
          </a:p>
          <a:p>
            <a:pPr>
              <a:spcAft>
                <a:spcPts val="100"/>
              </a:spcAft>
              <a:defRPr sz="700">
                <a:solidFill>
                  <a:srgbClr val="2D3436"/>
                </a:solidFill>
                <a:latin typeface="Consolas" panose="020B0609020204030204"/>
              </a:defRPr>
            </a:pPr>
            <a:r>
              <a:t>    dists = {cid: self._estimate_distribution(p)</a:t>
            </a:r>
          </a:p>
          <a:p>
            <a:pPr>
              <a:spcAft>
                <a:spcPts val="100"/>
              </a:spcAft>
              <a:defRPr sz="700">
                <a:solidFill>
                  <a:srgbClr val="2D3436"/>
                </a:solidFill>
                <a:latin typeface="Consolas" panose="020B0609020204030204"/>
              </a:defRPr>
            </a:pPr>
            <a:r>
              <a:t>             for cid, p in enumerate(results)}</a:t>
            </a:r>
          </a:p>
          <a:p>
            <a:pPr>
              <a:spcAft>
                <a:spcPts val="100"/>
              </a:spcAft>
              <a:defRPr sz="700">
                <a:solidFill>
                  <a:srgbClr val="2D3436"/>
                </a:solidFill>
                <a:latin typeface="Consolas" panose="020B0609020204030204"/>
              </a:defRPr>
            </a:pPr>
            <a:r>
              <a:t>    # 2) JS散度 -&gt; 分布相似性权重</a:t>
            </a:r>
          </a:p>
          <a:p>
            <a:pPr>
              <a:spcAft>
                <a:spcPts val="100"/>
              </a:spcAft>
              <a:defRPr sz="700">
                <a:solidFill>
                  <a:srgbClr val="2D3436"/>
                </a:solidFill>
                <a:latin typeface="Consolas" panose="020B0609020204030204"/>
              </a:defRPr>
            </a:pPr>
            <a:r>
              <a:t>    uniform = np.ones(nc) / nc</a:t>
            </a:r>
          </a:p>
          <a:p>
            <a:pPr>
              <a:spcAft>
                <a:spcPts val="100"/>
              </a:spcAft>
              <a:defRPr sz="700">
                <a:solidFill>
                  <a:srgbClr val="2D3436"/>
                </a:solidFill>
                <a:latin typeface="Consolas" panose="020B0609020204030204"/>
              </a:defRPr>
            </a:pPr>
            <a:r>
              <a:t>    weights = {cid: np.exp(-jensenshannon(d, uniform)</a:t>
            </a:r>
          </a:p>
          <a:p>
            <a:pPr>
              <a:spcAft>
                <a:spcPts val="100"/>
              </a:spcAft>
              <a:defRPr sz="700">
                <a:solidFill>
                  <a:srgbClr val="2D3436"/>
                </a:solidFill>
                <a:latin typeface="Consolas" panose="020B0609020204030204"/>
              </a:defRPr>
            </a:pPr>
            <a:r>
              <a:t>               / self.temperature) for cid, d in dists.items()}</a:t>
            </a:r>
          </a:p>
          <a:p>
            <a:pPr>
              <a:spcAft>
                <a:spcPts val="100"/>
              </a:spcAft>
              <a:defRPr sz="700">
                <a:solidFill>
                  <a:srgbClr val="2D3436"/>
                </a:solidFill>
                <a:latin typeface="Consolas" panose="020B0609020204030204"/>
              </a:defRPr>
            </a:pPr>
            <a:r>
              <a:t>    # 3) 样本权重 x 分布权重 -&gt; 加权聚合</a:t>
            </a:r>
          </a:p>
          <a:p>
            <a:pPr>
              <a:spcAft>
                <a:spcPts val="100"/>
              </a:spcAft>
              <a:defRPr sz="700">
                <a:solidFill>
                  <a:srgbClr val="2D3436"/>
                </a:solidFill>
                <a:latin typeface="Consolas" panose="020B0609020204030204"/>
              </a:defRPr>
            </a:pPr>
            <a:r>
              <a:t>    agg = [sum(p*n*weights[cid] for (p,n),cid</a:t>
            </a:r>
          </a:p>
          <a:p>
            <a:pPr>
              <a:spcAft>
                <a:spcPts val="100"/>
              </a:spcAft>
              <a:defRPr sz="700">
                <a:solidFill>
                  <a:srgbClr val="2D3436"/>
                </a:solidFill>
                <a:latin typeface="Consolas" panose="020B0609020204030204"/>
              </a:defRPr>
            </a:pPr>
            <a:r>
              <a:t>           in zip(results,dists)) / sum(n*weights[cid]</a:t>
            </a:r>
          </a:p>
          <a:p>
            <a:pPr>
              <a:spcAft>
                <a:spcPts val="100"/>
              </a:spcAft>
              <a:defRPr sz="700">
                <a:solidFill>
                  <a:srgbClr val="2D3436"/>
                </a:solidFill>
                <a:latin typeface="Consolas" panose="020B0609020204030204"/>
              </a:defRPr>
            </a:pPr>
            <a:r>
              <a:t>           for (_,n),cid in zip(results,dists))</a:t>
            </a:r>
          </a:p>
          <a:p>
            <a:pPr>
              <a:spcAft>
                <a:spcPts val="100"/>
              </a:spcAft>
              <a:defRPr sz="700">
                <a:solidFill>
                  <a:srgbClr val="2D3436"/>
                </a:solidFill>
                <a:latin typeface="Consolas" panose="020B0609020204030204"/>
              </a:defRPr>
            </a:pPr>
            <a:r>
              <a:t>           for _ in range(len(results[0][0]))]</a:t>
            </a:r>
          </a:p>
          <a:p>
            <a:pPr>
              <a:spcAft>
                <a:spcPts val="100"/>
              </a:spcAft>
              <a:defRPr sz="700">
                <a:solidFill>
                  <a:srgbClr val="2D3436"/>
                </a:solidFill>
                <a:latin typeface="Consolas" panose="020B0609020204030204"/>
              </a:defRPr>
            </a:pPr>
            <a:r>
              <a:t>    return agg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463040"/>
            <a:ext cx="3657600" cy="2468880"/>
          </a:xfrm>
          <a:prstGeom prst="roundRect">
            <a:avLst/>
          </a:prstGeom>
          <a:solidFill>
            <a:srgbClr val="FAFAFA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70832" y="1499616"/>
            <a:ext cx="351129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67E22"/>
                </a:solidFill>
                <a:latin typeface="微软雅黑" panose="020B0503020204020204" charset="-122"/>
              </a:defRPr>
            </a:pPr>
            <a:r>
              <a:t>2. 区块链 — 模型注册链码 (model-registry.js)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370832" y="1719072"/>
            <a:ext cx="1389888" cy="0"/>
          </a:xfrm>
          <a:prstGeom prst="line">
            <a:avLst/>
          </a:prstGeom>
          <a:ln w="10160">
            <a:solidFill>
              <a:srgbClr val="E67E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370832" y="1737360"/>
            <a:ext cx="3511296" cy="2157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700">
                <a:solidFill>
                  <a:srgbClr val="2D3436"/>
                </a:solidFill>
                <a:latin typeface="Consolas" panose="020B0609020204030204"/>
              </a:defRPr>
            </a:pPr>
            <a:r>
              <a:t>async registerModel(ctx, modelId, ownerId, meta):</a:t>
            </a:r>
          </a:p>
          <a:p>
            <a:pPr>
              <a:spcAft>
                <a:spcPts val="100"/>
              </a:spcAft>
              <a:defRPr sz="700">
                <a:solidFill>
                  <a:srgbClr val="2D3436"/>
                </a:solidFill>
                <a:latin typeface="Consolas" panose="020B0609020204030204"/>
              </a:defRPr>
            </a:pPr>
            <a:r>
              <a:t>    const exists = await this.modelExists(ctx, modelId);</a:t>
            </a:r>
          </a:p>
          <a:p>
            <a:pPr>
              <a:spcAft>
                <a:spcPts val="100"/>
              </a:spcAft>
              <a:defRPr sz="700">
                <a:solidFill>
                  <a:srgbClr val="2D3436"/>
                </a:solidFill>
                <a:latin typeface="Consolas" panose="020B0609020204030204"/>
              </a:defRPr>
            </a:pPr>
            <a:r>
              <a:t>    if (exists) throw new Error('Already exists');</a:t>
            </a:r>
          </a:p>
          <a:p>
            <a:pPr>
              <a:spcAft>
                <a:spcPts val="100"/>
              </a:spcAft>
              <a:defRPr sz="700">
                <a:solidFill>
                  <a:srgbClr val="2D3436"/>
                </a:solidFill>
                <a:latin typeface="Consolas" panose="020B0609020204030204"/>
              </a:defRPr>
            </a:pPr>
            <a:r>
              <a:t>    const model = {</a:t>
            </a:r>
          </a:p>
          <a:p>
            <a:pPr>
              <a:spcAft>
                <a:spcPts val="100"/>
              </a:spcAft>
              <a:defRPr sz="700">
                <a:solidFill>
                  <a:srgbClr val="2D3436"/>
                </a:solidFill>
                <a:latin typeface="Consolas" panose="020B0609020204030204"/>
              </a:defRPr>
            </a:pPr>
            <a:r>
              <a:t>        modelId, ownerId,</a:t>
            </a:r>
          </a:p>
          <a:p>
            <a:pPr>
              <a:spcAft>
                <a:spcPts val="100"/>
              </a:spcAft>
              <a:defRPr sz="700">
                <a:solidFill>
                  <a:srgbClr val="2D3436"/>
                </a:solidFill>
                <a:latin typeface="Consolas" panose="020B0609020204030204"/>
              </a:defRPr>
            </a:pPr>
            <a:r>
              <a:t>        metadata: JSON.parse(meta),</a:t>
            </a:r>
          </a:p>
          <a:p>
            <a:pPr>
              <a:spcAft>
                <a:spcPts val="100"/>
              </a:spcAft>
              <a:defRPr sz="700">
                <a:solidFill>
                  <a:srgbClr val="2D3436"/>
                </a:solidFill>
                <a:latin typeface="Consolas" panose="020B0609020204030204"/>
              </a:defRPr>
            </a:pPr>
            <a:r>
              <a:t>        ipfsHash: meta.ipfsHash || '',</a:t>
            </a:r>
          </a:p>
          <a:p>
            <a:pPr>
              <a:spcAft>
                <a:spcPts val="100"/>
              </a:spcAft>
              <a:defRPr sz="700">
                <a:solidFill>
                  <a:srgbClr val="2D3436"/>
                </a:solidFill>
                <a:latin typeface="Consolas" panose="020B0609020204030204"/>
              </a:defRPr>
            </a:pPr>
            <a:r>
              <a:t>        status: 'REGISTERED',</a:t>
            </a:r>
          </a:p>
          <a:p>
            <a:pPr>
              <a:spcAft>
                <a:spcPts val="100"/>
              </a:spcAft>
              <a:defRPr sz="700">
                <a:solidFill>
                  <a:srgbClr val="2D3436"/>
                </a:solidFill>
                <a:latin typeface="Consolas" panose="020B0609020204030204"/>
              </a:defRPr>
            </a:pPr>
            <a:r>
              <a:t>        registeredAt: new Date().toISOString(),</a:t>
            </a:r>
          </a:p>
          <a:p>
            <a:pPr>
              <a:spcAft>
                <a:spcPts val="100"/>
              </a:spcAft>
              <a:defRPr sz="700">
                <a:solidFill>
                  <a:srgbClr val="2D3436"/>
                </a:solidFill>
                <a:latin typeface="Consolas" panose="020B0609020204030204"/>
              </a:defRPr>
            </a:pPr>
            <a:r>
              <a:t>        transactionCount: 0, reputationScore: 100</a:t>
            </a:r>
          </a:p>
          <a:p>
            <a:pPr>
              <a:spcAft>
                <a:spcPts val="100"/>
              </a:spcAft>
              <a:defRPr sz="700">
                <a:solidFill>
                  <a:srgbClr val="2D3436"/>
                </a:solidFill>
                <a:latin typeface="Consolas" panose="020B0609020204030204"/>
              </a:defRPr>
            </a:pPr>
            <a:r>
              <a:t>    };</a:t>
            </a:r>
          </a:p>
          <a:p>
            <a:pPr>
              <a:spcAft>
                <a:spcPts val="100"/>
              </a:spcAft>
              <a:defRPr sz="700">
                <a:solidFill>
                  <a:srgbClr val="2D3436"/>
                </a:solidFill>
                <a:latin typeface="Consolas" panose="020B0609020204030204"/>
              </a:defRPr>
            </a:pPr>
            <a:r>
              <a:t>    await ctx.stub.putState(modelId,</a:t>
            </a:r>
          </a:p>
          <a:p>
            <a:pPr>
              <a:spcAft>
                <a:spcPts val="100"/>
              </a:spcAft>
              <a:defRPr sz="700">
                <a:solidFill>
                  <a:srgbClr val="2D3436"/>
                </a:solidFill>
                <a:latin typeface="Consolas" panose="020B0609020204030204"/>
              </a:defRPr>
            </a:pPr>
            <a:r>
              <a:t>        Buffer.from(JSON.stringify(model)));</a:t>
            </a:r>
          </a:p>
          <a:p>
            <a:pPr>
              <a:spcAft>
                <a:spcPts val="100"/>
              </a:spcAft>
              <a:defRPr sz="700">
                <a:solidFill>
                  <a:srgbClr val="2D3436"/>
                </a:solidFill>
                <a:latin typeface="Consolas" panose="020B0609020204030204"/>
              </a:defRPr>
            </a:pPr>
            <a:r>
              <a:t>    ctx.stub.setEvent('ModelRegistered',</a:t>
            </a:r>
          </a:p>
          <a:p>
            <a:pPr>
              <a:spcAft>
                <a:spcPts val="100"/>
              </a:spcAft>
              <a:defRPr sz="700">
                <a:solidFill>
                  <a:srgbClr val="2D3436"/>
                </a:solidFill>
                <a:latin typeface="Consolas" panose="020B0609020204030204"/>
              </a:defRPr>
            </a:pPr>
            <a:r>
              <a:t>        Buffer.from(JSON.stringify({modelId,ownerId})));</a:t>
            </a:r>
          </a:p>
          <a:p>
            <a:pPr>
              <a:spcAft>
                <a:spcPts val="100"/>
              </a:spcAft>
              <a:defRPr sz="700">
                <a:solidFill>
                  <a:srgbClr val="2D3436"/>
                </a:solidFill>
                <a:latin typeface="Consolas" panose="020B0609020204030204"/>
              </a:defRPr>
            </a:pPr>
            <a:r>
              <a:t>    return JSON.stringify(model);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463040"/>
            <a:ext cx="3657600" cy="2468880"/>
          </a:xfrm>
          <a:prstGeom prst="roundRect">
            <a:avLst/>
          </a:prstGeom>
          <a:solidFill>
            <a:srgbClr val="FAFAFA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11312" y="1499616"/>
            <a:ext cx="351129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C0392B"/>
                </a:solidFill>
                <a:latin typeface="微软雅黑" panose="020B0503020204020204" charset="-122"/>
              </a:defRPr>
            </a:pPr>
            <a:r>
              <a:t>3. 激励机制 — TMC-Shapley (tmc_shapley.py)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211312" y="1719072"/>
            <a:ext cx="1389888" cy="0"/>
          </a:xfrm>
          <a:prstGeom prst="line">
            <a:avLst/>
          </a:prstGeom>
          <a:ln w="10160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211312" y="1737360"/>
            <a:ext cx="3511296" cy="2157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700">
                <a:solidFill>
                  <a:srgbClr val="2D3436"/>
                </a:solidFill>
                <a:latin typeface="Consolas" panose="020B0609020204030204"/>
              </a:defRPr>
            </a:pPr>
            <a:r>
              <a:t>class TMCShapley:</a:t>
            </a:r>
          </a:p>
          <a:p>
            <a:pPr>
              <a:spcAft>
                <a:spcPts val="100"/>
              </a:spcAft>
              <a:defRPr sz="700">
                <a:solidFill>
                  <a:srgbClr val="2D3436"/>
                </a:solidFill>
                <a:latin typeface="Consolas" panose="020B0609020204030204"/>
              </a:defRPr>
            </a:pPr>
            <a:r>
              <a:t>    def __init__(self, U, nodes, M=5000):</a:t>
            </a:r>
          </a:p>
          <a:p>
            <a:pPr>
              <a:spcAft>
                <a:spcPts val="100"/>
              </a:spcAft>
              <a:defRPr sz="700">
                <a:solidFill>
                  <a:srgbClr val="2D3436"/>
                </a:solidFill>
                <a:latin typeface="Consolas" panose="020B0609020204030204"/>
              </a:defRPr>
            </a:pPr>
            <a:r>
              <a:t>        self.U = U; self.nodes = nodes</a:t>
            </a:r>
          </a:p>
          <a:p>
            <a:pPr>
              <a:spcAft>
                <a:spcPts val="100"/>
              </a:spcAft>
              <a:defRPr sz="700">
                <a:solidFill>
                  <a:srgbClr val="2D3436"/>
                </a:solidFill>
                <a:latin typeface="Consolas" panose="020B0609020204030204"/>
              </a:defRPr>
            </a:pPr>
            <a:r>
              <a:t>        self.n = len(nodes); self.M = M</a:t>
            </a:r>
          </a:p>
          <a:p>
            <a:pPr>
              <a:spcAft>
                <a:spcPts val="100"/>
              </a:spcAft>
              <a:defRPr sz="700">
                <a:solidFill>
                  <a:srgbClr val="2D3436"/>
                </a:solidFill>
                <a:latin typeface="Consolas" panose="020B0609020204030204"/>
              </a:defRPr>
            </a:pPr>
          </a:p>
          <a:p>
            <a:pPr>
              <a:spcAft>
                <a:spcPts val="100"/>
              </a:spcAft>
              <a:defRPr sz="700">
                <a:solidFill>
                  <a:srgbClr val="2D3436"/>
                </a:solidFill>
                <a:latin typeface="Consolas" panose="020B0609020204030204"/>
              </a:defRPr>
            </a:pPr>
            <a:r>
              <a:t>    def compute(self):</a:t>
            </a:r>
          </a:p>
          <a:p>
            <a:pPr>
              <a:spcAft>
                <a:spcPts val="100"/>
              </a:spcAft>
              <a:defRPr sz="700">
                <a:solidFill>
                  <a:srgbClr val="2D3436"/>
                </a:solidFill>
                <a:latin typeface="Consolas" panose="020B0609020204030204"/>
              </a:defRPr>
            </a:pPr>
            <a:r>
              <a:t>        sums = {n: 0.0 for n in self.nodes}</a:t>
            </a:r>
          </a:p>
          <a:p>
            <a:pPr>
              <a:spcAft>
                <a:spcPts val="100"/>
              </a:spcAft>
              <a:defRPr sz="700">
                <a:solidFill>
                  <a:srgbClr val="2D3436"/>
                </a:solidFill>
                <a:latin typeface="Consolas" panose="020B0609020204030204"/>
              </a:defRPr>
            </a:pPr>
            <a:r>
              <a:t>        for m in range(self.M):</a:t>
            </a:r>
          </a:p>
          <a:p>
            <a:pPr>
              <a:spcAft>
                <a:spcPts val="100"/>
              </a:spcAft>
              <a:defRPr sz="700">
                <a:solidFill>
                  <a:srgbClr val="2D3436"/>
                </a:solidFill>
                <a:latin typeface="Consolas" panose="020B0609020204030204"/>
              </a:defRPr>
            </a:pPr>
            <a:r>
              <a:t>            perm = self.rng.permutation(self.nodes)</a:t>
            </a:r>
          </a:p>
          <a:p>
            <a:pPr>
              <a:spcAft>
                <a:spcPts val="100"/>
              </a:spcAft>
              <a:defRPr sz="700">
                <a:solidFill>
                  <a:srgbClr val="2D3436"/>
                </a:solidFill>
                <a:latin typeface="Consolas" panose="020B0609020204030204"/>
              </a:defRPr>
            </a:pPr>
            <a:r>
              <a:t>            prev = self.U([])</a:t>
            </a:r>
          </a:p>
          <a:p>
            <a:pPr>
              <a:spcAft>
                <a:spcPts val="100"/>
              </a:spcAft>
              <a:defRPr sz="700">
                <a:solidFill>
                  <a:srgbClr val="2D3436"/>
                </a:solidFill>
                <a:latin typeface="Consolas" panose="020B0609020204030204"/>
              </a:defRPr>
            </a:pPr>
            <a:r>
              <a:t>            for node in perm:</a:t>
            </a:r>
          </a:p>
          <a:p>
            <a:pPr>
              <a:spcAft>
                <a:spcPts val="100"/>
              </a:spcAft>
              <a:defRPr sz="700">
                <a:solidFill>
                  <a:srgbClr val="2D3436"/>
                </a:solidFill>
                <a:latin typeface="Consolas" panose="020B0609020204030204"/>
              </a:defRPr>
            </a:pPr>
            <a:r>
              <a:t>                cur = self.U(perm[:perm.index(node)+1])</a:t>
            </a:r>
          </a:p>
          <a:p>
            <a:pPr>
              <a:spcAft>
                <a:spcPts val="100"/>
              </a:spcAft>
              <a:defRPr sz="700">
                <a:solidFill>
                  <a:srgbClr val="2D3436"/>
                </a:solidFill>
                <a:latin typeface="Consolas" panose="020B0609020204030204"/>
              </a:defRPr>
            </a:pPr>
            <a:r>
              <a:t>                marginal = cur - prev</a:t>
            </a:r>
          </a:p>
          <a:p>
            <a:pPr>
              <a:spcAft>
                <a:spcPts val="100"/>
              </a:spcAft>
              <a:defRPr sz="700">
                <a:solidFill>
                  <a:srgbClr val="2D3436"/>
                </a:solidFill>
                <a:latin typeface="Consolas" panose="020B0609020204030204"/>
              </a:defRPr>
            </a:pPr>
            <a:r>
              <a:t>                if marginal &lt; 0.001: break  # 截断</a:t>
            </a:r>
          </a:p>
          <a:p>
            <a:pPr>
              <a:spcAft>
                <a:spcPts val="100"/>
              </a:spcAft>
              <a:defRPr sz="700">
                <a:solidFill>
                  <a:srgbClr val="2D3436"/>
                </a:solidFill>
                <a:latin typeface="Consolas" panose="020B0609020204030204"/>
              </a:defRPr>
            </a:pPr>
            <a:r>
              <a:t>                sums[node] += marginal</a:t>
            </a:r>
          </a:p>
          <a:p>
            <a:pPr>
              <a:spcAft>
                <a:spcPts val="100"/>
              </a:spcAft>
              <a:defRPr sz="700">
                <a:solidFill>
                  <a:srgbClr val="2D3436"/>
                </a:solidFill>
                <a:latin typeface="Consolas" panose="020B0609020204030204"/>
              </a:defRPr>
            </a:pPr>
            <a:r>
              <a:t>                prev = cur</a:t>
            </a:r>
          </a:p>
          <a:p>
            <a:pPr>
              <a:spcAft>
                <a:spcPts val="100"/>
              </a:spcAft>
              <a:defRPr sz="700">
                <a:solidFill>
                  <a:srgbClr val="2D3436"/>
                </a:solidFill>
                <a:latin typeface="Consolas" panose="020B0609020204030204"/>
              </a:defRPr>
            </a:pPr>
            <a:r>
              <a:t>        return {n: s/self.M for n, s in sums.items()}</a:t>
            </a:r>
          </a:p>
          <a:p>
            <a:pPr>
              <a:spcAft>
                <a:spcPts val="100"/>
              </a:spcAft>
              <a:defRPr sz="700">
                <a:solidFill>
                  <a:srgbClr val="2D3436"/>
                </a:solidFill>
                <a:latin typeface="Consolas" panose="020B0609020204030204"/>
              </a:defRPr>
            </a:pPr>
            <a:r>
              <a:t># O(M*n^2)替代O(2^n), n=100时误差&lt;0.5%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160520"/>
            <a:ext cx="5669280" cy="2286000"/>
          </a:xfrm>
          <a:prstGeom prst="roundRect">
            <a:avLst/>
          </a:prstGeom>
          <a:solidFill>
            <a:srgbClr val="FAFAFA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0352" y="4197096"/>
            <a:ext cx="552297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7AE60"/>
                </a:solidFill>
                <a:latin typeface="微软雅黑" panose="020B0503020204020204" charset="-122"/>
              </a:defRPr>
            </a:pPr>
            <a:r>
              <a:t>4. 差分隐私 — DP-SGD训练 (differential_privacy.py)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30352" y="4416552"/>
            <a:ext cx="2194560" cy="0"/>
          </a:xfrm>
          <a:prstGeom prst="line">
            <a:avLst/>
          </a:prstGeom>
          <a:ln w="1016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30352" y="4434840"/>
            <a:ext cx="5522976" cy="16452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700">
                <a:solidFill>
                  <a:srgbClr val="2D3436"/>
                </a:solidFill>
                <a:latin typeface="Consolas" panose="020B0609020204030204"/>
              </a:defRPr>
            </a:pPr>
            <a:r>
              <a:t>class DPClient:</a:t>
            </a:r>
          </a:p>
          <a:p>
            <a:pPr>
              <a:spcAft>
                <a:spcPts val="100"/>
              </a:spcAft>
              <a:defRPr sz="700">
                <a:solidFill>
                  <a:srgbClr val="2D3436"/>
                </a:solidFill>
                <a:latin typeface="Consolas" panose="020B0609020204030204"/>
              </a:defRPr>
            </a:pPr>
            <a:r>
              <a:t>    def __init__(self, model, optimizer, eps=1.0):</a:t>
            </a:r>
          </a:p>
          <a:p>
            <a:pPr>
              <a:spcAft>
                <a:spcPts val="100"/>
              </a:spcAft>
              <a:defRPr sz="700">
                <a:solidFill>
                  <a:srgbClr val="2D3436"/>
                </a:solidFill>
                <a:latin typeface="Consolas" panose="020B0609020204030204"/>
              </a:defRPr>
            </a:pPr>
            <a:r>
              <a:t>        self.privacy_engine = PrivacyEngine()</a:t>
            </a:r>
          </a:p>
          <a:p>
            <a:pPr>
              <a:spcAft>
                <a:spcPts val="100"/>
              </a:spcAft>
              <a:defRPr sz="700">
                <a:solidFill>
                  <a:srgbClr val="2D3436"/>
                </a:solidFill>
                <a:latin typeface="Consolas" panose="020B0609020204030204"/>
              </a:defRPr>
            </a:pPr>
            <a:r>
              <a:t>        self.model = ModuleValidator.fix(model)</a:t>
            </a:r>
          </a:p>
          <a:p>
            <a:pPr>
              <a:spcAft>
                <a:spcPts val="100"/>
              </a:spcAft>
              <a:defRPr sz="700">
                <a:solidFill>
                  <a:srgbClr val="2D3436"/>
                </a:solidFill>
                <a:latin typeface="Consolas" panose="020B0609020204030204"/>
              </a:defRPr>
            </a:pPr>
            <a:r>
              <a:t>        self.model, self.opt, _ = \</a:t>
            </a:r>
          </a:p>
          <a:p>
            <a:pPr>
              <a:spcAft>
                <a:spcPts val="100"/>
              </a:spcAft>
              <a:defRPr sz="700">
                <a:solidFill>
                  <a:srgbClr val="2D3436"/>
                </a:solidFill>
                <a:latin typeface="Consolas" panose="020B0609020204030204"/>
              </a:defRPr>
            </a:pPr>
            <a:r>
              <a:t>            self.privacy_engine.make_private(</a:t>
            </a:r>
          </a:p>
          <a:p>
            <a:pPr>
              <a:spcAft>
                <a:spcPts val="100"/>
              </a:spcAft>
              <a:defRPr sz="700">
                <a:solidFill>
                  <a:srgbClr val="2D3436"/>
                </a:solidFill>
                <a:latin typeface="Consolas" panose="020B0609020204030204"/>
              </a:defRPr>
            </a:pPr>
            <a:r>
              <a:t>                module=self.model,</a:t>
            </a:r>
          </a:p>
          <a:p>
            <a:pPr>
              <a:spcAft>
                <a:spcPts val="100"/>
              </a:spcAft>
              <a:defRPr sz="700">
                <a:solidFill>
                  <a:srgbClr val="2D3436"/>
                </a:solidFill>
                <a:latin typeface="Consolas" panose="020B0609020204030204"/>
              </a:defRPr>
            </a:pPr>
            <a:r>
              <a:t>                optimizer=optimizer,</a:t>
            </a:r>
          </a:p>
          <a:p>
            <a:pPr>
              <a:spcAft>
                <a:spcPts val="100"/>
              </a:spcAft>
              <a:defRPr sz="700">
                <a:solidFill>
                  <a:srgbClr val="2D3436"/>
                </a:solidFill>
                <a:latin typeface="Consolas" panose="020B0609020204030204"/>
              </a:defRPr>
            </a:pPr>
            <a:r>
              <a:t>                noise_multiplier=2.0,  # eps=1.0校准</a:t>
            </a:r>
          </a:p>
          <a:p>
            <a:pPr>
              <a:spcAft>
                <a:spcPts val="100"/>
              </a:spcAft>
              <a:defRPr sz="700">
                <a:solidFill>
                  <a:srgbClr val="2D3436"/>
                </a:solidFill>
                <a:latin typeface="Consolas" panose="020B0609020204030204"/>
              </a:defRPr>
            </a:pPr>
            <a:r>
              <a:t>                max_grad_norm=1.0,</a:t>
            </a:r>
          </a:p>
          <a:p>
            <a:pPr>
              <a:spcAft>
                <a:spcPts val="100"/>
              </a:spcAft>
              <a:defRPr sz="700">
                <a:solidFill>
                  <a:srgbClr val="2D3436"/>
                </a:solidFill>
                <a:latin typeface="Consolas" panose="020B0609020204030204"/>
              </a:defRPr>
            </a:pPr>
            <a:r>
              <a:t>                delta=1e-5)</a:t>
            </a:r>
          </a:p>
          <a:p>
            <a:pPr>
              <a:spcAft>
                <a:spcPts val="100"/>
              </a:spcAft>
              <a:defRPr sz="700">
                <a:solidFill>
                  <a:srgbClr val="2D3436"/>
                </a:solidFill>
                <a:latin typeface="Consolas" panose="020B0609020204030204"/>
              </a:defRPr>
            </a:pPr>
          </a:p>
          <a:p>
            <a:pPr>
              <a:spcAft>
                <a:spcPts val="100"/>
              </a:spcAft>
              <a:defRPr sz="700">
                <a:solidFill>
                  <a:srgbClr val="2D3436"/>
                </a:solidFill>
                <a:latin typeface="Consolas" panose="020B0609020204030204"/>
              </a:defRPr>
            </a:pPr>
            <a:r>
              <a:t>    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09360" y="4160520"/>
            <a:ext cx="5486400" cy="2286000"/>
          </a:xfrm>
          <a:prstGeom prst="roundRect">
            <a:avLst/>
          </a:prstGeom>
          <a:solidFill>
            <a:srgbClr val="FAFAFA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82512" y="4197096"/>
            <a:ext cx="534009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A5276"/>
                </a:solidFill>
                <a:latin typeface="微软雅黑" panose="020B0503020204020204" charset="-122"/>
              </a:defRPr>
            </a:pPr>
            <a:r>
              <a:t>5. 实验主程序 — 联邦学习运行 (run_fl_experiment.py)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382512" y="4416552"/>
            <a:ext cx="2121408" cy="0"/>
          </a:xfrm>
          <a:prstGeom prst="line">
            <a:avLst/>
          </a:prstGeom>
          <a:ln w="10160">
            <a:solidFill>
              <a:srgbClr val="1A52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382512" y="4434840"/>
            <a:ext cx="5340096" cy="21094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650">
                <a:solidFill>
                  <a:srgbClr val="2D3436"/>
                </a:solidFill>
                <a:latin typeface="Consolas" panose="020B0609020204030204"/>
              </a:defRPr>
            </a:pPr>
            <a:r>
              <a:t>def run_experiment(config):</a:t>
            </a:r>
          </a:p>
          <a:p>
            <a:pPr>
              <a:spcAft>
                <a:spcPts val="100"/>
              </a:spcAft>
              <a:defRPr sz="650">
                <a:solidFill>
                  <a:srgbClr val="2D3436"/>
                </a:solidFill>
                <a:latin typeface="Consolas" panose="020B0609020204030204"/>
              </a:defRPr>
            </a:pPr>
            <a:r>
              <a:t>    dataset = config["dataset"]   # CIFAR10/100/MNIST</a:t>
            </a:r>
          </a:p>
          <a:p>
            <a:pPr>
              <a:spcAft>
                <a:spcPts val="100"/>
              </a:spcAft>
              <a:defRPr sz="650">
                <a:solidFill>
                  <a:srgbClr val="2D3436"/>
                </a:solidFill>
                <a:latin typeface="Consolas" panose="020B0609020204030204"/>
              </a:defRPr>
            </a:pPr>
            <a:r>
              <a:t>    n_clients = config["num_clients"]  # 10/50/100</a:t>
            </a:r>
          </a:p>
          <a:p>
            <a:pPr>
              <a:spcAft>
                <a:spcPts val="100"/>
              </a:spcAft>
              <a:defRPr sz="650">
                <a:solidFill>
                  <a:srgbClr val="2D3436"/>
                </a:solidFill>
                <a:latin typeface="Consolas" panose="020B0609020204030204"/>
              </a:defRPr>
            </a:pPr>
            <a:r>
              <a:t>    alpha = config["alpha"]       # Dirichlet浓度: 0.1/0.5</a:t>
            </a:r>
          </a:p>
          <a:p>
            <a:pPr>
              <a:spcAft>
                <a:spcPts val="100"/>
              </a:spcAft>
              <a:defRPr sz="650">
                <a:solidFill>
                  <a:srgbClr val="2D3436"/>
                </a:solidFill>
                <a:latin typeface="Consolas" panose="020B0609020204030204"/>
              </a:defRPr>
            </a:pPr>
            <a:r>
              <a:t>    method = config["method"]     # FedAvg/Prox/SCAFFOLD/Ours</a:t>
            </a:r>
          </a:p>
          <a:p>
            <a:pPr>
              <a:spcAft>
                <a:spcPts val="100"/>
              </a:spcAft>
              <a:defRPr sz="650">
                <a:solidFill>
                  <a:srgbClr val="2D3436"/>
                </a:solidFill>
                <a:latin typeface="Consolas" panose="020B0609020204030204"/>
              </a:defRPr>
            </a:pPr>
          </a:p>
          <a:p>
            <a:pPr>
              <a:spcAft>
                <a:spcPts val="100"/>
              </a:spcAft>
              <a:defRPr sz="650">
                <a:solidFill>
                  <a:srgbClr val="2D3436"/>
                </a:solidFill>
                <a:latin typeface="Consolas" panose="020B0609020204030204"/>
              </a:defRPr>
            </a:pPr>
            <a:r>
              <a:t>    train, test, nc = load_dataset(dataset)</a:t>
            </a:r>
          </a:p>
          <a:p>
            <a:pPr>
              <a:spcAft>
                <a:spcPts val="100"/>
              </a:spcAft>
              <a:defRPr sz="650">
                <a:solidFill>
                  <a:srgbClr val="2D3436"/>
                </a:solidFill>
                <a:latin typeface="Consolas" panose="020B0609020204030204"/>
              </a:defRPr>
            </a:pPr>
            <a:r>
              <a:t>    labels = np.array(train.targets)</a:t>
            </a:r>
          </a:p>
          <a:p>
            <a:pPr>
              <a:spcAft>
                <a:spcPts val="100"/>
              </a:spcAft>
              <a:defRPr sz="650">
                <a:solidFill>
                  <a:srgbClr val="2D3436"/>
                </a:solidFill>
                <a:latin typeface="Consolas" panose="020B0609020204030204"/>
              </a:defRPr>
            </a:pPr>
            <a:r>
              <a:t>    partitions = dirichlet_partition(labels,</a:t>
            </a:r>
          </a:p>
          <a:p>
            <a:pPr>
              <a:spcAft>
                <a:spcPts val="100"/>
              </a:spcAft>
              <a:defRPr sz="650">
                <a:solidFill>
                  <a:srgbClr val="2D3436"/>
                </a:solidFill>
                <a:latin typeface="Consolas" panose="020B0609020204030204"/>
              </a:defRPr>
            </a:pPr>
            <a:r>
              <a:t>                    n_clients, alpha, seed=42)</a:t>
            </a:r>
          </a:p>
          <a:p>
            <a:pPr>
              <a:spcAft>
                <a:spcPts val="100"/>
              </a:spcAft>
              <a:defRPr sz="650">
                <a:solidFill>
                  <a:srgbClr val="2D3436"/>
                </a:solidFill>
                <a:latin typeface="Consolas" panose="020B0609020204030204"/>
              </a:defRPr>
            </a:pPr>
          </a:p>
          <a:p>
            <a:pPr>
              <a:spcAft>
                <a:spcPts val="100"/>
              </a:spcAft>
              <a:defRPr sz="650">
                <a:solidFill>
                  <a:srgbClr val="2D3436"/>
                </a:solidFill>
                <a:latin typeface="Consolas" panose="020B0609020204030204"/>
              </a:defRPr>
            </a:pPr>
            <a:r>
              <a:t>    clients = [FlowerClient(cid,</a:t>
            </a:r>
          </a:p>
          <a:p>
            <a:pPr>
              <a:spcAft>
                <a:spcPts val="100"/>
              </a:spcAft>
              <a:defRPr sz="650">
                <a:solidFill>
                  <a:srgbClr val="2D3436"/>
                </a:solidFill>
                <a:latin typeface="Consolas" panose="020B0609020204030204"/>
              </a:defRPr>
            </a:pPr>
            <a:r>
              <a:t>        DataLoader(Subset(train, partitions[cid]),</a:t>
            </a:r>
          </a:p>
          <a:p>
            <a:pPr>
              <a:spcAft>
                <a:spcPts val="100"/>
              </a:spcAft>
              <a:defRPr sz="650">
                <a:solidFill>
                  <a:srgbClr val="2D3436"/>
                </a:solidFill>
                <a:latin typeface="Consolas" panose="020B0609020204030204"/>
              </a:defRPr>
            </a:pPr>
            <a:r>
              <a:t>        batch_size=64, shuffle=True),</a:t>
            </a:r>
          </a:p>
          <a:p>
            <a:pPr>
              <a:spcAft>
                <a:spcPts val="100"/>
              </a:spcAft>
              <a:defRPr sz="650">
                <a:solidFill>
                  <a:srgbClr val="2D3436"/>
                </a:solidFill>
                <a:latin typeface="Consolas" panose="020B0609020204030204"/>
              </a:defRPr>
            </a:pPr>
            <a:r>
              <a:t>        DataLoader(test, batch_size=128),</a:t>
            </a:r>
          </a:p>
          <a:p>
            <a:pPr>
              <a:spcAft>
                <a:spcPts val="100"/>
              </a:spcAft>
              <a:defRPr sz="650">
                <a:solidFill>
                  <a:srgbClr val="2D3436"/>
                </a:solidFill>
                <a:latin typeface="Consolas" panose="020B0609020204030204"/>
              </a:defRPr>
            </a:pPr>
            <a:r>
              <a:t>        model=ResNet18(num_classes=nc))</a:t>
            </a:r>
          </a:p>
          <a:p>
            <a:pPr>
              <a:spcAft>
                <a:spcPts val="100"/>
              </a:spcAft>
              <a:defRPr sz="650">
                <a:solidFill>
                  <a:srgbClr val="2D3436"/>
                </a:solidFill>
                <a:latin typeface="Consolas" panose="020B0609020204030204"/>
              </a:defRPr>
            </a:pPr>
            <a:r>
              <a:t>        for cid in range(n_clients)]</a:t>
            </a:r>
          </a:p>
          <a:p>
            <a:pPr>
              <a:spcAft>
                <a:spcPts val="100"/>
              </a:spcAft>
              <a:defRPr sz="650">
                <a:solidFill>
                  <a:srgbClr val="2D3436"/>
                </a:solidFill>
                <a:latin typeface="Consolas" panose="020B0609020204030204"/>
              </a:defRPr>
            </a:pPr>
          </a:p>
        </p:txBody>
      </p:sp>
      <p:sp>
        <p:nvSpPr>
          <p:cNvPr id="26" name="TextBox 25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5A5A6"/>
                </a:solidFill>
                <a:latin typeface="微软雅黑" panose="020B0503020204020204" charset="-122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研究目标与创新点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914400"/>
            <a:ext cx="11064240" cy="0"/>
          </a:xfrm>
          <a:prstGeom prst="line">
            <a:avLst/>
          </a:prstGeom>
          <a:ln w="25400">
            <a:solidFill>
              <a:srgbClr val="1A52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5A5A6"/>
                </a:solidFill>
                <a:latin typeface="微软雅黑" panose="020B0503020204020204" charset="-122"/>
              </a:defRPr>
            </a:pPr>
            <a:r>
              <a:t>OBJECTIVES &amp; APPROACH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3566160" cy="502920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5276"/>
                </a:solidFill>
                <a:latin typeface="微软雅黑" panose="020B0503020204020204" charset="-122"/>
              </a:defRPr>
            </a:pPr>
            <a:r>
              <a:t>六大研究目标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40080" y="1920240"/>
            <a:ext cx="1188720" cy="0"/>
          </a:xfrm>
          <a:prstGeom prst="line">
            <a:avLst/>
          </a:prstGeom>
          <a:ln w="12700">
            <a:solidFill>
              <a:srgbClr val="1A52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40080" y="2103120"/>
            <a:ext cx="3200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1. 设计工业5.0五层混合架构</a:t>
            </a:r>
          </a:p>
          <a:p>
            <a:pPr>
              <a:spcAft>
                <a:spcPts val="300"/>
              </a:spcAft>
              <a:defRPr sz="11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2. 契约理论 - 三级质量契约菜单</a:t>
            </a:r>
          </a:p>
          <a:p>
            <a:pPr>
              <a:spcAft>
                <a:spcPts val="300"/>
              </a:spcAft>
              <a:defRPr sz="11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3. 四维度贡献度评估模型(CCS)</a:t>
            </a:r>
          </a:p>
          <a:p>
            <a:pPr>
              <a:spcAft>
                <a:spcPts val="300"/>
              </a:spcAft>
              <a:defRPr sz="11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4. TMC-Shapley公平分配(误差&lt;0.5%)</a:t>
            </a:r>
          </a:p>
          <a:p>
            <a:pPr>
              <a:spcAft>
                <a:spcPts val="300"/>
              </a:spcAft>
              <a:defRPr sz="11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5. DP+SMPC隐私保护一体化</a:t>
            </a:r>
          </a:p>
          <a:p>
            <a:pPr>
              <a:spcAft>
                <a:spcPts val="300"/>
              </a:spcAft>
              <a:defRPr sz="11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6. 原型系统+多维度实验验证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371600"/>
            <a:ext cx="3566160" cy="502920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14630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C0392B"/>
                </a:solidFill>
                <a:latin typeface="微软雅黑" panose="020B0503020204020204" charset="-122"/>
              </a:defRPr>
            </a:pPr>
            <a:r>
              <a:t>三项核心创新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480560" y="1920240"/>
            <a:ext cx="1188720" cy="0"/>
          </a:xfrm>
          <a:prstGeom prst="line">
            <a:avLst/>
          </a:prstGeom>
          <a:ln w="12700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480560" y="2103120"/>
            <a:ext cx="3200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创新一: 分布式控制+集中式执行</a:t>
            </a:r>
          </a:p>
          <a:p>
            <a:pPr>
              <a:spcAft>
                <a:spcPts val="300"/>
              </a:spcAft>
              <a:defRPr sz="11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         分层混合架构设计范式</a:t>
            </a:r>
          </a:p>
          <a:p>
            <a:pPr>
              <a:spcAft>
                <a:spcPts val="300"/>
              </a:spcAft>
              <a:defRPr sz="11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创新二: 契约理论+Shapley值</a:t>
            </a:r>
          </a:p>
          <a:p>
            <a:pPr>
              <a:spcAft>
                <a:spcPts val="300"/>
              </a:spcAft>
              <a:defRPr sz="11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         双层激励机制</a:t>
            </a:r>
          </a:p>
          <a:p>
            <a:pPr>
              <a:spcAft>
                <a:spcPts val="300"/>
              </a:spcAft>
              <a:defRPr sz="11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创新三: 首次量化AI模型市场</a:t>
            </a:r>
          </a:p>
          <a:p>
            <a:pPr>
              <a:spcAft>
                <a:spcPts val="300"/>
              </a:spcAft>
              <a:defRPr sz="11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         三元权衡(Trilemma)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371600"/>
            <a:ext cx="3566160" cy="502920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14630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7AE60"/>
                </a:solidFill>
                <a:latin typeface="微软雅黑" panose="020B0503020204020204" charset="-122"/>
              </a:defRPr>
            </a:pPr>
            <a:r>
              <a:t>技术路线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321040" y="1920240"/>
            <a:ext cx="1188720" cy="0"/>
          </a:xfrm>
          <a:prstGeom prst="line">
            <a:avLst/>
          </a:prstGeom>
          <a:ln w="127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321040" y="2103120"/>
            <a:ext cx="3200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边缘计算 + 联邦学习</a:t>
            </a:r>
          </a:p>
          <a:p>
            <a:pPr>
              <a:spcAft>
                <a:spcPts val="300"/>
              </a:spcAft>
              <a:defRPr sz="11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    v</a:t>
            </a:r>
          </a:p>
          <a:p>
            <a:pPr>
              <a:spcAft>
                <a:spcPts val="300"/>
              </a:spcAft>
              <a:defRPr sz="11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区块链 + IPFS (智能合约)</a:t>
            </a:r>
          </a:p>
          <a:p>
            <a:pPr>
              <a:spcAft>
                <a:spcPts val="300"/>
              </a:spcAft>
              <a:defRPr sz="11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    v</a:t>
            </a:r>
          </a:p>
          <a:p>
            <a:pPr>
              <a:spcAft>
                <a:spcPts val="300"/>
              </a:spcAft>
              <a:defRPr sz="11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隐私计算 (DP/SMPC/HE)</a:t>
            </a:r>
          </a:p>
          <a:p>
            <a:pPr>
              <a:spcAft>
                <a:spcPts val="300"/>
              </a:spcAft>
              <a:defRPr sz="11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    v</a:t>
            </a:r>
          </a:p>
          <a:p>
            <a:pPr>
              <a:spcAft>
                <a:spcPts val="300"/>
              </a:spcAft>
              <a:defRPr sz="11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博弈机制 (契约/Shapley)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5A5A6"/>
                </a:solidFill>
                <a:latin typeface="微软雅黑" panose="020B0503020204020204" charset="-122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五层混合架构设计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914400"/>
            <a:ext cx="11064240" cy="0"/>
          </a:xfrm>
          <a:prstGeom prst="line">
            <a:avLst/>
          </a:prstGeom>
          <a:ln w="25400">
            <a:solidFill>
              <a:srgbClr val="1A52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5A5A6"/>
                </a:solidFill>
                <a:latin typeface="微软雅黑" panose="020B0503020204020204" charset="-122"/>
              </a:defRPr>
            </a:pPr>
            <a:r>
              <a:t>ARCHITECTURE DESIGN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11247120" cy="548640"/>
          </a:xfrm>
          <a:prstGeom prst="roundRect">
            <a:avLst/>
          </a:prstGeom>
          <a:solidFill>
            <a:srgbClr val="FAFAFA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53312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0392B"/>
                </a:solidFill>
                <a:latin typeface="微软雅黑" panose="020B0503020204020204" charset="-122"/>
              </a:defRPr>
            </a:pPr>
            <a:r>
              <a:t>5 应用层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0" y="137160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Web门户 | 移动APP | API网关 | MES/ERP集成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938528"/>
            <a:ext cx="11247120" cy="548640"/>
          </a:xfrm>
          <a:prstGeom prst="roundRect">
            <a:avLst/>
          </a:prstGeom>
          <a:solidFill>
            <a:srgbClr val="FAFAFA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0116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67E22"/>
                </a:solidFill>
                <a:latin typeface="微软雅黑" panose="020B0503020204020204" charset="-122"/>
              </a:defRPr>
            </a:pPr>
            <a:r>
              <a:t>4 服务层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2029968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模型注册 | 搜索匹配(&gt;=85%) | 交易结算 | 评价反馈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596896"/>
            <a:ext cx="11247120" cy="548640"/>
          </a:xfrm>
          <a:prstGeom prst="roundRect">
            <a:avLst/>
          </a:prstGeom>
          <a:solidFill>
            <a:srgbClr val="FAFAFA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670048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980B9"/>
                </a:solidFill>
                <a:latin typeface="微软雅黑" panose="020B0503020204020204" charset="-122"/>
              </a:defRPr>
            </a:pPr>
            <a:r>
              <a:t>3 联邦学习层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2688336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FedAvg / FedProx / SCAFFOLD | 分布感知权重调节 | DP噪声注入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255264"/>
            <a:ext cx="11247120" cy="548640"/>
          </a:xfrm>
          <a:prstGeom prst="roundRect">
            <a:avLst/>
          </a:prstGeom>
          <a:solidFill>
            <a:srgbClr val="FAFAFA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328416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7AE60"/>
                </a:solidFill>
                <a:latin typeface="微软雅黑" panose="020B0503020204020204" charset="-122"/>
              </a:defRPr>
            </a:pPr>
            <a:r>
              <a:t>2 隐私计算层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3346704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本地DP | SMPC(SPDZ协议) | 同态加密HE -- 三级安全可选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913631"/>
            <a:ext cx="11247120" cy="548640"/>
          </a:xfrm>
          <a:prstGeom prst="roundRect">
            <a:avLst/>
          </a:prstGeom>
          <a:solidFill>
            <a:srgbClr val="FAFAFA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986783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5276"/>
                </a:solidFill>
                <a:latin typeface="微软雅黑" panose="020B0503020204020204" charset="-122"/>
              </a:defRPr>
            </a:pPr>
            <a:r>
              <a:t>1 区块链层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91840" y="4005071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Hyperledger Fabric联盟链 | 智能合约自动结算 | IPFS(CID锚定)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846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1A5276"/>
                </a:solidFill>
                <a:latin typeface="微软雅黑" panose="020B0503020204020204" charset="-122"/>
              </a:defRPr>
            </a:pPr>
            <a:r>
              <a:t>设计理念: 底层去中心化保障安全与公平 -&gt; 上层集中式服务优化效率与体验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548640" y="5577840"/>
          <a:ext cx="109728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7542"/>
                <a:gridCol w="1567542"/>
                <a:gridCol w="1567542"/>
                <a:gridCol w="1567542"/>
                <a:gridCol w="1567542"/>
                <a:gridCol w="1567542"/>
                <a:gridCol w="1567548"/>
              </a:tblGrid>
              <a:tr h="54864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需求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实时性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安全性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可扩展性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隐私保护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公平性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可用性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目标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&lt;=500ms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&gt;=95%检测率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100+节点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epsilon&lt;=1.0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基尼&lt;=0.35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&gt;=99.5%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5A5A6"/>
                </a:solidFill>
                <a:latin typeface="微软雅黑" panose="020B0503020204020204" charset="-122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核心数据流程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914400"/>
            <a:ext cx="11064240" cy="0"/>
          </a:xfrm>
          <a:prstGeom prst="line">
            <a:avLst/>
          </a:prstGeom>
          <a:ln w="25400">
            <a:solidFill>
              <a:srgbClr val="1A52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5A5A6"/>
                </a:solidFill>
                <a:latin typeface="微软雅黑" panose="020B0503020204020204" charset="-122"/>
              </a:defRPr>
            </a:pPr>
            <a:r>
              <a:t>DATA FLOW DESIGN</a:t>
            </a:r>
          </a:p>
        </p:txBody>
      </p:sp>
      <p:pic>
        <p:nvPicPr>
          <p:cNvPr id="5" name="Picture 4" descr="fig3_2_dataflow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721995"/>
            <a:ext cx="10515600" cy="6309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1885315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(a) 注册: 边缘设备 -&gt; 特征提取 -&gt; DP脱敏 -&gt; 服务注册 -&gt; 区块链存证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07125" y="1885315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(b) 搜索: 用户查询 -&gt; 匹配引擎 -&gt; 多因子排序 -&gt; 结果返回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57200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(c) 交易: 发起 -&gt; 智能合约验证 -&gt; IPFS传输 -&gt; 确认 -&gt; 收益分配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13145" y="457200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(d) 联邦学习: 本地训练 -&gt; 梯度加密 -&gt; SMPC安全聚合 -&gt; 全局更新 -&gt; 分发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5A5A6"/>
                </a:solidFill>
                <a:latin typeface="微软雅黑" panose="020B0503020204020204" charset="-122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双层激励机制设计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914400"/>
            <a:ext cx="11064240" cy="0"/>
          </a:xfrm>
          <a:prstGeom prst="line">
            <a:avLst/>
          </a:prstGeom>
          <a:ln w="25400">
            <a:solidFill>
              <a:srgbClr val="1A52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5A5A6"/>
                </a:solidFill>
                <a:latin typeface="微软雅黑" panose="020B0503020204020204" charset="-122"/>
              </a:defRPr>
            </a:pPr>
            <a:r>
              <a:t>INCENTIVE MECHANISM: CONTRACT + SHAPLEY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5486400" cy="256032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0392B"/>
                </a:solidFill>
                <a:latin typeface="微软雅黑" panose="020B0503020204020204" charset="-122"/>
              </a:defRPr>
            </a:pPr>
            <a:r>
              <a:t>第一层：契约理论 - 三级质量契约菜单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40080" y="1783080"/>
            <a:ext cx="2103120" cy="0"/>
          </a:xfrm>
          <a:prstGeom prst="line">
            <a:avLst/>
          </a:prstGeom>
          <a:ln w="12700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920240"/>
          <a:ext cx="484632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1580"/>
                <a:gridCol w="1211580"/>
                <a:gridCol w="1211580"/>
                <a:gridCol w="1211580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等级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准确率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延迟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报酬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基础 Basic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&gt;=85%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&lt;=50ms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100 Token + 绩效奖金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标准 Standard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&gt;=90%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&lt;=30ms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250 Token + 绩效奖金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高级 Premium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&gt;=95%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&lt;=15ms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500 Token + 绩效奖金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0080" y="35661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C0392B"/>
                </a:solidFill>
                <a:latin typeface="微软雅黑" panose="020B0503020204020204" charset="-122"/>
              </a:defRPr>
            </a:pPr>
            <a:r>
              <a:t>- Self-Selection: 提供方自发选择匹配自身质量的契约 -&gt; 消除逆向选择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280160"/>
            <a:ext cx="5486400" cy="256032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371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7AE60"/>
                </a:solidFill>
                <a:latin typeface="微软雅黑" panose="020B0503020204020204" charset="-122"/>
              </a:defRPr>
            </a:pPr>
            <a:r>
              <a:t>第二层：Shapley值 - 公平分配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3200400" y="1783080"/>
            <a:ext cx="3200400" cy="0"/>
          </a:xfrm>
          <a:prstGeom prst="line">
            <a:avLst/>
          </a:prstGeom>
          <a:ln w="127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400800" y="1920240"/>
            <a:ext cx="50292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R_i = R_total x (phi_i / Sum phi_j)</a:t>
            </a:r>
          </a:p>
          <a:p>
            <a:pPr>
              <a:spcAft>
                <a:spcPts val="300"/>
              </a:spcAft>
              <a:defRPr sz="1000">
                <a:solidFill>
                  <a:srgbClr val="2C3E50"/>
                </a:solidFill>
                <a:latin typeface="微软雅黑" panose="020B0503020204020204" charset="-122"/>
              </a:defRPr>
            </a:pPr>
          </a:p>
          <a:p>
            <a:pPr>
              <a:spcAft>
                <a:spcPts val="300"/>
              </a:spcAft>
              <a:defRPr sz="10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phi_i: 节点i在所有可能联盟加入顺序中</a:t>
            </a:r>
          </a:p>
          <a:p>
            <a:pPr>
              <a:spcAft>
                <a:spcPts val="300"/>
              </a:spcAft>
              <a:defRPr sz="10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对模型性能的 平均边际贡献</a:t>
            </a:r>
          </a:p>
          <a:p>
            <a:pPr>
              <a:spcAft>
                <a:spcPts val="300"/>
              </a:spcAft>
              <a:defRPr sz="1000">
                <a:solidFill>
                  <a:srgbClr val="2C3E50"/>
                </a:solidFill>
                <a:latin typeface="微软雅黑" panose="020B0503020204020204" charset="-122"/>
              </a:defRPr>
            </a:pPr>
          </a:p>
          <a:p>
            <a:pPr>
              <a:spcAft>
                <a:spcPts val="300"/>
              </a:spcAft>
              <a:defRPr sz="10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属性: 效率性 + 对称性 + 虚拟性 + 可加性</a:t>
            </a:r>
          </a:p>
          <a:p>
            <a:pPr>
              <a:spcAft>
                <a:spcPts val="300"/>
              </a:spcAft>
              <a:defRPr sz="10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唯一满足四条公理的公平分配方案</a:t>
            </a:r>
          </a:p>
          <a:p>
            <a:pPr>
              <a:spcAft>
                <a:spcPts val="300"/>
              </a:spcAft>
              <a:defRPr sz="1000">
                <a:solidFill>
                  <a:srgbClr val="2C3E50"/>
                </a:solidFill>
                <a:latin typeface="微软雅黑" panose="020B0503020204020204" charset="-122"/>
              </a:defRPr>
            </a:pPr>
          </a:p>
          <a:p>
            <a:pPr>
              <a:spcAft>
                <a:spcPts val="300"/>
              </a:spcAft>
              <a:defRPr sz="10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TMC-Shapley近似: O(M*n^2) 替代 O(2^n)</a:t>
            </a:r>
          </a:p>
          <a:p>
            <a:pPr>
              <a:spcAft>
                <a:spcPts val="300"/>
              </a:spcAft>
              <a:defRPr sz="10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n=100, M=5000 -&gt; 误差 &lt; 0.5%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114800"/>
            <a:ext cx="11247120" cy="228600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2062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5276"/>
                </a:solidFill>
                <a:latin typeface="微软雅黑" panose="020B0503020204020204" charset="-122"/>
              </a:defRPr>
            </a:pPr>
            <a:r>
              <a:t>四维度综合贡献评分 (CCS)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40080" y="4617720"/>
            <a:ext cx="2560320" cy="0"/>
          </a:xfrm>
          <a:prstGeom prst="line">
            <a:avLst/>
          </a:prstGeom>
          <a:ln w="12700">
            <a:solidFill>
              <a:srgbClr val="1A52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40080" y="4754880"/>
            <a:ext cx="107899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CCS = 0.40 x 模型质量(C_q) + 0.25 x 数据贡献(C_d) + 0.20 x 计算资源(C_c) + 0.15 x 信誉(C_r)</a:t>
            </a:r>
          </a:p>
          <a:p>
            <a:pPr>
              <a:spcAft>
                <a:spcPts val="300"/>
              </a:spcAft>
              <a:defRPr sz="1100">
                <a:solidFill>
                  <a:srgbClr val="2C3E50"/>
                </a:solidFill>
                <a:latin typeface="微软雅黑" panose="020B0503020204020204" charset="-122"/>
              </a:defRPr>
            </a:pPr>
          </a:p>
          <a:p>
            <a:pPr>
              <a:spcAft>
                <a:spcPts val="300"/>
              </a:spcAft>
              <a:defRPr sz="11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C_q: 基准数据集准确率/F1/AUC    C_d: 数据量 x 熵多样性    C_c: GPU时/通信带宽    C_r: 历史履约+满意度+持续性</a:t>
            </a:r>
          </a:p>
          <a:p>
            <a:pPr>
              <a:spcAft>
                <a:spcPts val="300"/>
              </a:spcAft>
              <a:defRPr sz="11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权重动态策略: 市场初期(提升C_c/C_r吸引参与) -&gt; 成熟期(提升C_q引导质量竞争) -&gt; 自适应调度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5A5A6"/>
                </a:solidFill>
                <a:latin typeface="微软雅黑" panose="020B0503020204020204" charset="-122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实验设置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914400"/>
            <a:ext cx="11064240" cy="0"/>
          </a:xfrm>
          <a:prstGeom prst="line">
            <a:avLst/>
          </a:prstGeom>
          <a:ln w="25400">
            <a:solidFill>
              <a:srgbClr val="1A52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5A5A6"/>
                </a:solidFill>
                <a:latin typeface="微软雅黑" panose="020B0503020204020204" charset="-122"/>
              </a:defRPr>
            </a:pPr>
            <a:r>
              <a:t>EXPERIMENTAL SETUP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71600"/>
          <a:ext cx="530352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/>
                <a:gridCol w="2651760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实验要素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配置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数据集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MNIST / Fashion-MNIST / CIFAR-10 / CIFAR-100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模型架构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ResNet-18 (PyTorch 2.1.0)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Non-IID划分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Dirichlet分布 alpha=0.1(高度异质) / 0.5(中度)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节点规模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n = 10, 50, 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通信轮次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200轮，每轮30%客户端随机参与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本地训练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SGD优化器(lr=0.01,momentum=0.9), 5 epochs/batch=64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重复实验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5次独立重复，报告均值 +- 标准差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0" y="1371600"/>
          <a:ext cx="530352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/>
                <a:gridCol w="2651760"/>
              </a:tblGrid>
              <a:tr h="512064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对比维度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对比方法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联邦学习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FedAvg / FedProx / SCAFFOLD / FedNova / Ours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激励机制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无激励 / 固定奖励 / 信誉驱动 / 市场价 / Shapley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隐私保护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无保护 / DP(epsilon=0.5,1.0,2.0,5.0) / SMPC+DP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安全攻击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成员推理攻击(MIA) / 模型逆向攻击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457200" y="4206240"/>
            <a:ext cx="11247120" cy="228600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42976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5276"/>
                </a:solidFill>
                <a:latin typeface="微软雅黑" panose="020B0503020204020204" charset="-122"/>
              </a:defRPr>
            </a:pPr>
            <a:r>
              <a:t>五项研究假设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4709160"/>
            <a:ext cx="2103120" cy="0"/>
          </a:xfrm>
          <a:prstGeom prst="line">
            <a:avLst/>
          </a:prstGeom>
          <a:ln w="12700">
            <a:solidFill>
              <a:srgbClr val="1A52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40080" y="4846320"/>
            <a:ext cx="107899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H1: 所提方法Non-IID准确率显著优于FedAvg (目标: +3pp)           H2: Shapley分配基尼系数显著低于无激励 (目标: &lt;0.35)</a:t>
            </a:r>
          </a:p>
          <a:p>
            <a:pPr>
              <a:spcAft>
                <a:spcPts val="300"/>
              </a:spcAft>
              <a:defRPr sz="12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H3: 差分隐私存在隐私-准确率经典权衡 (目标: epsilon=1.0平衡点)      H4: 区块链提升可信度且引入可接受开销</a:t>
            </a:r>
          </a:p>
          <a:p>
            <a:pPr>
              <a:spcAft>
                <a:spcPts val="300"/>
              </a:spcAft>
              <a:defRPr sz="12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H5: 100节点环境下TPS&gt;=800且交易成功率&gt;=95% (工业级可行性验证)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5A5A6"/>
                </a:solidFill>
                <a:latin typeface="微软雅黑" panose="020B0503020204020204" charset="-122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联邦学习性能结果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914400"/>
            <a:ext cx="11064240" cy="0"/>
          </a:xfrm>
          <a:prstGeom prst="line">
            <a:avLst/>
          </a:prstGeom>
          <a:ln w="25400">
            <a:solidFill>
              <a:srgbClr val="1A52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5A5A6"/>
                </a:solidFill>
                <a:latin typeface="微软雅黑" panose="020B0503020204020204" charset="-122"/>
              </a:defRPr>
            </a:pPr>
            <a:r>
              <a:t>FEDERATED LEARNING PERFORMANCE</a:t>
            </a:r>
          </a:p>
        </p:txBody>
      </p:sp>
      <p:pic>
        <p:nvPicPr>
          <p:cNvPr id="5" name="Picture 4" descr="fig5_1_fl_accuracy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188720"/>
            <a:ext cx="5486400" cy="3429000"/>
          </a:xfrm>
          <a:prstGeom prst="rect">
            <a:avLst/>
          </a:prstGeom>
        </p:spPr>
      </p:pic>
      <p:pic>
        <p:nvPicPr>
          <p:cNvPr id="6" name="Picture 5" descr="fig5_2_converg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188720"/>
            <a:ext cx="5486400" cy="3429000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74320" y="4572000"/>
          <a:ext cx="59436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5900"/>
                <a:gridCol w="1485900"/>
                <a:gridCol w="1485900"/>
                <a:gridCol w="1485900"/>
              </a:tblGrid>
              <a:tr h="329184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方法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准确率(%)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75%收敛轮次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vs FedAvg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FedAvg (基线)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78.42 +- 0.83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187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FedProx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79.81 +- 0.65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174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+1.39pp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SCAFFOLD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80.33 +- 0.52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165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+1.91pp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所提方法 (Ours)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81.59 +- 0.48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152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+3.17pp***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400800" y="4572000"/>
            <a:ext cx="5303520" cy="164592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4663440"/>
            <a:ext cx="4937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关键发现:</a:t>
            </a:r>
          </a:p>
          <a:p>
            <a:pPr>
              <a:spcAft>
                <a:spcPts val="300"/>
              </a:spcAft>
              <a:defRPr sz="10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- 所提方法 = 最高准确率 + 最快收敛</a:t>
            </a:r>
          </a:p>
          <a:p>
            <a:pPr>
              <a:spcAft>
                <a:spcPts val="300"/>
              </a:spcAft>
              <a:defRPr sz="10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- 较FedAvg提升3.17pp (p&lt;0.01)</a:t>
            </a:r>
          </a:p>
          <a:p>
            <a:pPr>
              <a:spcAft>
                <a:spcPts val="300"/>
              </a:spcAft>
              <a:defRPr sz="10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- 收敛加速18.7% (187-&gt;152轮)</a:t>
            </a:r>
          </a:p>
          <a:p>
            <a:pPr>
              <a:spcAft>
                <a:spcPts val="300"/>
              </a:spcAft>
              <a:defRPr sz="10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- SCAFFOLD通信开销为所提方法的1.7x</a:t>
            </a:r>
          </a:p>
          <a:p>
            <a:pPr>
              <a:spcAft>
                <a:spcPts val="300"/>
              </a:spcAft>
              <a:defRPr sz="10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- 4个数据集一致领先</a:t>
            </a:r>
          </a:p>
          <a:p>
            <a:pPr>
              <a:spcAft>
                <a:spcPts val="300"/>
              </a:spcAft>
              <a:defRPr sz="10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  CIFAR-100: +3.16pp vs FedAvg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5A5A6"/>
                </a:solidFill>
                <a:latin typeface="微软雅黑" panose="020B0503020204020204" charset="-122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激励与隐私保护结果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914400"/>
            <a:ext cx="11064240" cy="0"/>
          </a:xfrm>
          <a:prstGeom prst="line">
            <a:avLst/>
          </a:prstGeom>
          <a:ln w="25400">
            <a:solidFill>
              <a:srgbClr val="1A52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5A5A6"/>
                </a:solidFill>
                <a:latin typeface="微软雅黑" panose="020B0503020204020204" charset="-122"/>
              </a:defRPr>
            </a:pPr>
            <a:r>
              <a:t>INCENTIVE &amp; PRIVACY RESULTS</a:t>
            </a:r>
          </a:p>
        </p:txBody>
      </p:sp>
      <p:pic>
        <p:nvPicPr>
          <p:cNvPr id="5" name="Picture 4" descr="fig5_4_incentiv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188720"/>
            <a:ext cx="5486400" cy="3771900"/>
          </a:xfrm>
          <a:prstGeom prst="rect">
            <a:avLst/>
          </a:prstGeom>
        </p:spPr>
      </p:pic>
      <p:pic>
        <p:nvPicPr>
          <p:cNvPr id="6" name="Picture 5" descr="fig5_5_privacy_tradeo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188720"/>
            <a:ext cx="5486400" cy="34290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274320" y="4754880"/>
            <a:ext cx="5486400" cy="164592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4846320"/>
            <a:ext cx="5120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Shapley激励机制效果:</a:t>
            </a:r>
          </a:p>
          <a:p>
            <a:pPr>
              <a:spcAft>
                <a:spcPts val="300"/>
              </a:spcAft>
              <a:defRPr sz="10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- 参与率: 62.3% -&gt; 87.4% (+25.1pp)</a:t>
            </a:r>
          </a:p>
          <a:p>
            <a:pPr>
              <a:spcAft>
                <a:spcPts val="300"/>
              </a:spcAft>
              <a:defRPr sz="10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- 基尼系数: 0.487 -&gt; 0.285 (降41.5%)</a:t>
            </a:r>
          </a:p>
          <a:p>
            <a:pPr>
              <a:spcAft>
                <a:spcPts val="300"/>
              </a:spcAft>
              <a:defRPr sz="10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- 高质量提供方占比: 28.5% -&gt; 56.7%</a:t>
            </a:r>
          </a:p>
          <a:p>
            <a:pPr>
              <a:spcAft>
                <a:spcPts val="300"/>
              </a:spcAft>
              <a:defRPr sz="10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- Shapley偏差仅0.071 (公平性最优)</a:t>
            </a:r>
          </a:p>
          <a:p>
            <a:pPr>
              <a:spcAft>
                <a:spcPts val="300"/>
              </a:spcAft>
              <a:defRPr sz="10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- 公平与效率实现统一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4754880"/>
            <a:ext cx="5303520" cy="164592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4846320"/>
            <a:ext cx="4937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隐私-准确率权衡:</a:t>
            </a:r>
          </a:p>
          <a:p>
            <a:pPr>
              <a:spcAft>
                <a:spcPts val="300"/>
              </a:spcAft>
              <a:defRPr sz="10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- MIA攻击成功率: 68.3% -&gt; 12.3% (降82%)</a:t>
            </a:r>
          </a:p>
          <a:p>
            <a:pPr>
              <a:spcAft>
                <a:spcPts val="300"/>
              </a:spcAft>
              <a:defRPr sz="10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- 准确率损失仅1.78pp (79.81%)</a:t>
            </a:r>
          </a:p>
          <a:p>
            <a:pPr>
              <a:spcAft>
                <a:spcPts val="300"/>
              </a:spcAft>
              <a:defRPr sz="10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- epsilon=1.0 为实用平衡点</a:t>
            </a:r>
          </a:p>
          <a:p>
            <a:pPr>
              <a:spcAft>
                <a:spcPts val="300"/>
              </a:spcAft>
              <a:defRPr sz="10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- SMPC+DP联合: MIA降至9.6%</a:t>
            </a:r>
          </a:p>
          <a:p>
            <a:pPr>
              <a:spcAft>
                <a:spcPts val="300"/>
              </a:spcAft>
              <a:defRPr sz="10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- epsilon=0.5时噪声过大</a:t>
            </a:r>
          </a:p>
          <a:p>
            <a:pPr>
              <a:spcAft>
                <a:spcPts val="300"/>
              </a:spcAft>
              <a:defRPr sz="10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  (准确率骤降至77.43%)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5A5A6"/>
                </a:solidFill>
                <a:latin typeface="微软雅黑" panose="020B0503020204020204" charset="-122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系统性能与三元权衡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914400"/>
            <a:ext cx="11064240" cy="0"/>
          </a:xfrm>
          <a:prstGeom prst="line">
            <a:avLst/>
          </a:prstGeom>
          <a:ln w="25400">
            <a:solidFill>
              <a:srgbClr val="1A52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5A5A6"/>
                </a:solidFill>
                <a:latin typeface="微软雅黑" panose="020B0503020204020204" charset="-122"/>
              </a:defRPr>
            </a:pPr>
            <a:r>
              <a:t>SYSTEM PERFORMANCE &amp; TRILEMMA</a:t>
            </a:r>
          </a:p>
        </p:txBody>
      </p:sp>
      <p:pic>
        <p:nvPicPr>
          <p:cNvPr id="5" name="Picture 4" descr="fig5_6_scalability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188720"/>
            <a:ext cx="5486400" cy="3429000"/>
          </a:xfrm>
          <a:prstGeom prst="rect">
            <a:avLst/>
          </a:prstGeom>
        </p:spPr>
      </p:pic>
      <p:pic>
        <p:nvPicPr>
          <p:cNvPr id="6" name="Picture 5" descr="fig5_7_secur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188720"/>
            <a:ext cx="5486400" cy="34290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274320" y="4754880"/>
            <a:ext cx="5486400" cy="164592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4846320"/>
            <a:ext cx="5120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系统可扩展性 (100节点):</a:t>
            </a:r>
          </a:p>
          <a:p>
            <a:pPr>
              <a:spcAft>
                <a:spcPts val="300"/>
              </a:spcAft>
              <a:defRPr sz="10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- TPS: 820, 注册延迟: 44ms (远优于&lt;=500ms)</a:t>
            </a:r>
          </a:p>
          <a:p>
            <a:pPr>
              <a:spcAft>
                <a:spcPts val="300"/>
              </a:spcAft>
              <a:defRPr sz="10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- 交易成功率: 95.8% (达成&gt;=95%目标)</a:t>
            </a:r>
          </a:p>
          <a:p>
            <a:pPr>
              <a:spcAft>
                <a:spcPts val="300"/>
              </a:spcAft>
              <a:defRPr sz="10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- 伪造检测率: 98.9%, 漏报率: 0.0%</a:t>
            </a:r>
          </a:p>
          <a:p>
            <a:pPr>
              <a:spcAft>
                <a:spcPts val="300"/>
              </a:spcAft>
              <a:defRPr sz="10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- 存储开销17.5% (区块链共识可控范围)</a:t>
            </a:r>
          </a:p>
          <a:p>
            <a:pPr>
              <a:spcAft>
                <a:spcPts val="300"/>
              </a:spcAft>
              <a:defRPr sz="10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- H1-H5 五项假设全部成立 (p&lt;0.01)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4754880"/>
            <a:ext cx="5303520" cy="164592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4846320"/>
            <a:ext cx="4937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三元权衡 (Trilemma) 实证:</a:t>
            </a:r>
          </a:p>
          <a:p>
            <a:pPr>
              <a:spcAft>
                <a:spcPts val="300"/>
              </a:spcAft>
              <a:defRPr sz="10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- 模型性能 / 隐私保护 / 交易可信度</a:t>
            </a:r>
          </a:p>
          <a:p>
            <a:pPr>
              <a:spcAft>
                <a:spcPts val="300"/>
              </a:spcAft>
              <a:defRPr sz="10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  三者不可同时最优</a:t>
            </a:r>
          </a:p>
          <a:p>
            <a:pPr>
              <a:spcAft>
                <a:spcPts val="300"/>
              </a:spcAft>
              <a:defRPr sz="10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- 推荐工业运行点:</a:t>
            </a:r>
          </a:p>
          <a:p>
            <a:pPr>
              <a:spcAft>
                <a:spcPts val="300"/>
              </a:spcAft>
              <a:defRPr sz="10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  epsilon=1.0, TPS=820, Acc=79.81%</a:t>
            </a:r>
          </a:p>
          <a:p>
            <a:pPr>
              <a:spcAft>
                <a:spcPts val="300"/>
              </a:spcAft>
              <a:defRPr sz="10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- 首次为AI模型市场提供</a:t>
            </a:r>
          </a:p>
          <a:p>
            <a:pPr>
              <a:spcAft>
                <a:spcPts val="300"/>
              </a:spcAft>
              <a:defRPr sz="10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  三元权衡的实证量化数据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5A5A6"/>
                </a:solidFill>
                <a:latin typeface="微软雅黑" panose="020B0503020204020204" charset="-122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总结与展望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914400"/>
            <a:ext cx="11064240" cy="0"/>
          </a:xfrm>
          <a:prstGeom prst="line">
            <a:avLst/>
          </a:prstGeom>
          <a:ln w="25400">
            <a:solidFill>
              <a:srgbClr val="1A52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5A5A6"/>
                </a:solidFill>
                <a:latin typeface="微软雅黑" panose="020B0503020204020204" charset="-122"/>
              </a:defRPr>
            </a:pPr>
            <a:r>
              <a:t>CONCLUSION &amp; FUTURE WORK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3566160" cy="274320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5276"/>
                </a:solidFill>
                <a:latin typeface="微软雅黑" panose="020B0503020204020204" charset="-122"/>
              </a:defRPr>
            </a:pPr>
            <a:r>
              <a:t>架构贡献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40080" y="1920240"/>
            <a:ext cx="1188720" cy="0"/>
          </a:xfrm>
          <a:prstGeom prst="line">
            <a:avLst/>
          </a:prstGeom>
          <a:ln w="12700">
            <a:solidFill>
              <a:srgbClr val="1A52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40080" y="2103120"/>
            <a:ext cx="3200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首次提出五层混合架构</a:t>
            </a:r>
          </a:p>
          <a:p>
            <a:pPr>
              <a:spcAft>
                <a:spcPts val="300"/>
              </a:spcAft>
              <a:defRPr sz="12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四技术(边缘/联邦/区块链/隐私)融合</a:t>
            </a:r>
          </a:p>
          <a:p>
            <a:pPr>
              <a:spcAft>
                <a:spcPts val="300"/>
              </a:spcAft>
              <a:defRPr sz="12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三级隐私保护可选方案</a:t>
            </a:r>
          </a:p>
          <a:p>
            <a:pPr>
              <a:spcAft>
                <a:spcPts val="300"/>
              </a:spcAft>
              <a:defRPr sz="12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分布式控制+集中式执行范式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371600"/>
            <a:ext cx="3566160" cy="274320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14630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0392B"/>
                </a:solidFill>
                <a:latin typeface="微软雅黑" panose="020B0503020204020204" charset="-122"/>
              </a:defRPr>
            </a:pPr>
            <a:r>
              <a:t>机制贡献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480560" y="1920240"/>
            <a:ext cx="1188720" cy="0"/>
          </a:xfrm>
          <a:prstGeom prst="line">
            <a:avLst/>
          </a:prstGeom>
          <a:ln w="12700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480560" y="2103120"/>
            <a:ext cx="3200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契约理论+Shapley双层激励</a:t>
            </a:r>
          </a:p>
          <a:p>
            <a:pPr>
              <a:spcAft>
                <a:spcPts val="300"/>
              </a:spcAft>
              <a:defRPr sz="12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三级质量契约消除逆向选择</a:t>
            </a:r>
          </a:p>
          <a:p>
            <a:pPr>
              <a:spcAft>
                <a:spcPts val="300"/>
              </a:spcAft>
              <a:defRPr sz="12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TMC-Shapley公平分配(&lt;0.5%误差)</a:t>
            </a:r>
          </a:p>
          <a:p>
            <a:pPr>
              <a:spcAft>
                <a:spcPts val="300"/>
              </a:spcAft>
              <a:defRPr sz="12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四维CCS贡献评估模型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371600"/>
            <a:ext cx="3566160" cy="274320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14630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7AE60"/>
                </a:solidFill>
                <a:latin typeface="微软雅黑" panose="020B0503020204020204" charset="-122"/>
              </a:defRPr>
            </a:pPr>
            <a:r>
              <a:t>实证贡献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321040" y="1920240"/>
            <a:ext cx="1188720" cy="0"/>
          </a:xfrm>
          <a:prstGeom prst="line">
            <a:avLst/>
          </a:prstGeom>
          <a:ln w="127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321040" y="2103120"/>
            <a:ext cx="3200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+3.17pp准确率 | 基尼系数0.285</a:t>
            </a:r>
          </a:p>
          <a:p>
            <a:pPr>
              <a:spcAft>
                <a:spcPts val="300"/>
              </a:spcAft>
              <a:defRPr sz="12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MIA防御82% | 820TPS/95.8%</a:t>
            </a:r>
          </a:p>
          <a:p>
            <a:pPr>
              <a:spcAft>
                <a:spcPts val="300"/>
              </a:spcAft>
              <a:defRPr sz="12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五项假设全部成立</a:t>
            </a:r>
          </a:p>
          <a:p>
            <a:pPr>
              <a:spcAft>
                <a:spcPts val="300"/>
              </a:spcAft>
              <a:defRPr sz="12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首次量化三元权衡关系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4389120"/>
            <a:ext cx="11247120" cy="137160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480560"/>
            <a:ext cx="10789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未来方向:</a:t>
            </a:r>
          </a:p>
          <a:p>
            <a:pPr>
              <a:spcAft>
                <a:spcPts val="300"/>
              </a:spcAft>
              <a:defRPr sz="12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- 1000+节点真实测试床验证    - 真实工业数据(制造/物流/能源)纵向研究</a:t>
            </a:r>
          </a:p>
          <a:p>
            <a:pPr>
              <a:spcAft>
                <a:spcPts val="300"/>
              </a:spcAft>
              <a:defRPr sz="12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- 多智能体强化学习(MARL)自适应激励调优    - ISO/IEC JTC 1/SC 42行业标准化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03504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A5276"/>
                </a:solidFill>
                <a:latin typeface="微软雅黑" panose="020B0503020204020204" charset="-122"/>
              </a:defRPr>
            </a:pPr>
            <a:r>
              <a:t>谢谢！欢迎提问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114800" y="6583680"/>
            <a:ext cx="3931920" cy="0"/>
          </a:xfrm>
          <a:prstGeom prst="line">
            <a:avLst/>
          </a:prstGeom>
          <a:ln w="12700">
            <a:solidFill>
              <a:srgbClr val="1A52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5A5A6"/>
                </a:solidFill>
                <a:latin typeface="微软雅黑" panose="020B0503020204020204" charset="-122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7109</Words>
  <Application>WPS 演示</Application>
  <PresentationFormat>On-screen Show (4:3)</PresentationFormat>
  <Paragraphs>505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1" baseType="lpstr">
      <vt:lpstr>Arial</vt:lpstr>
      <vt:lpstr>宋体</vt:lpstr>
      <vt:lpstr>Wingdings</vt:lpstr>
      <vt:lpstr>Arial</vt:lpstr>
      <vt:lpstr>微软雅黑</vt:lpstr>
      <vt:lpstr>Consolas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晴舒曦</cp:lastModifiedBy>
  <cp:revision>2</cp:revision>
  <dcterms:created xsi:type="dcterms:W3CDTF">2013-01-27T09:14:00Z</dcterms:created>
  <dcterms:modified xsi:type="dcterms:W3CDTF">2026-06-04T11:26:03Z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9A3775D2D8084AC49358B8B6B5E3EF67_12</vt:lpwstr>
  </property>
  <property fmtid="{D5CDD505-2E9C-101B-9397-08002B2CF9AE}" pid="3" name="KSOProductBuildVer">
    <vt:lpwstr>2052-12.1.0.25225</vt:lpwstr>
  </property>
</Properties>
</file>