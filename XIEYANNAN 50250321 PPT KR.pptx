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1365" cy="6858000" type="screen4x3"/>
  <p:notesSz cx="6858000" cy="9144000"/>
  <p:defaultTextStyle>
    <a:defPPr>
      <a:defRPr lang="ko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" Type="http://schemas.openxmlformats.org/officeDocument/2006/relationships/tags" Target="../tags/tag14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828800" y="2926080"/>
            <a:ext cx="85039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1828800" y="1645920"/>
            <a:ext cx="8503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ctr">
              <a:defRPr sz="3600" b="1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산업 5.0을 위한 AI 모델 거래 시장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2468880"/>
            <a:ext cx="8503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ctr">
              <a:defRPr sz="2400" b="0">
                <a:solidFill>
                  <a:srgbClr val="1A527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건축 설계 및 인센티브 메커니즘에 관한 연구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29184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ctr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산업 5.0을 위한 AI 모델 교환 시장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754880"/>
            <a:ext cx="850392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2C3E50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828800" y="5303520"/>
            <a:ext cx="850392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5A5A6"/>
                </a:solidFill>
                <a:latin typeface="微软雅黑" panose="020B0503020204020204" charset="-122"/>
              </a:defRPr>
            </a:pPr>
          </a:p>
        </p:txBody>
      </p:sp>
      <p:cxnSp>
        <p:nvCxnSpPr>
          <p:cNvPr id="8" name="Connector 7"/>
          <p:cNvCxnSpPr/>
          <p:nvPr/>
        </p:nvCxnSpPr>
        <p:spPr>
          <a:xfrm>
            <a:off x="3200400" y="5852160"/>
            <a:ext cx="57607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1</a:t>
            </a:r>
          </a:p>
        </p:txBody>
      </p:sp>
      <p:sp>
        <p:nvSpPr>
          <p:cNvPr id="10" name="文本框 9"/>
          <p:cNvSpPr txBox="1"/>
          <p:nvPr/>
        </p:nvSpPr>
        <p:spPr>
          <a:xfrm>
            <a:off x="4048760" y="377634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 xmlns:a="http://schemas.openxmlformats.org/drawingml/2006/main">
              <a:rPr lang="ko" altLang="en-US"/>
              <a:t>사연남 </a:t>
            </a:r>
            <a:r xmlns:a="http://schemas.openxmlformats.org/drawingml/2006/main">
              <a:rPr lang="ko" altLang="ko-KR"/>
              <a:t>50250321 XIEYANNAN</a:t>
            </a:r>
            <a:endParaRPr xmlns:a="http://schemas.openxmlformats.org/drawingml/2006/main" lang="en-US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연구 배경 및 동기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배경 및 동기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71600"/>
            <a:ext cx="53035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인더스트리 5.0: 자동화에서 인간-기계 협업으로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xmlns:a="http://schemas.openxmlformats.org/drawingml/2006/main"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EU는 2021년에 세 가지 핵심 가치를 공식적으로 제안했습니다.</a:t>
            </a:r>
          </a:p>
          <a:p>
            <a:pPr xmlns:a="http://schemas.openxmlformats.org/drawingml/2006/main"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인간 중심, 지속가능성, 회복력</a:t>
            </a:r>
          </a:p>
          <a:p>
            <a:pPr xmlns:a="http://schemas.openxmlformats.org/drawingml/2006/main"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엣지 AI 모델은 기업의 핵심 디지털 자산이 됩니다.</a:t>
            </a:r>
          </a:p>
          <a:p>
            <a:pPr xmlns:a="http://schemas.openxmlformats.org/drawingml/2006/main"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기업 간 모델의 안전한 공유는 주요 병목 현상이 되었습니다.</a:t>
            </a:r>
          </a:p>
          <a:p>
            <a:pPr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xmlns:a="http://schemas.openxmlformats.org/drawingml/2006/main"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기존 플랫폼의 구조적 한계</a:t>
            </a:r>
          </a:p>
          <a:p>
            <a:pPr xmlns:a="http://schemas.openxmlformats.org/drawingml/2006/main"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주로 오픈 소스이며 무료이고, 상업적 거래 메커니즘이 없습니다.</a:t>
            </a:r>
          </a:p>
          <a:p>
            <a:pPr xmlns:a="http://schemas.openxmlformats.org/drawingml/2006/main"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산업용 모델 품질 검증 및 추적성 부재</a:t>
            </a:r>
          </a:p>
          <a:p>
            <a:pPr xmlns:a="http://schemas.openxmlformats.org/drawingml/2006/main">
              <a:spcAft>
                <a:spcPts val="300"/>
              </a:spcAft>
              <a:defRPr sz="13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미흡한 지적재산권 보호 및 공정한 인센티브 부족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0" y="1371600"/>
            <a:ext cx="50292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0" y="15544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ctr">
              <a:defRPr sz="3000" b="1">
                <a:solidFill>
                  <a:srgbClr val="1A527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1900억 달러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148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ctr">
              <a:defRPr sz="12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2025년 글로벌 AI 시장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583680" y="2926080"/>
            <a:ext cx="50292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0" y="310896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ctr">
              <a:defRPr sz="3000" b="1">
                <a:solidFill>
                  <a:srgbClr val="1A527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300,000명 이상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3703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ctr">
              <a:defRPr sz="12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허깅페이스 모델 번호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0" y="4480560"/>
            <a:ext cx="5029200" cy="128016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0" y="46634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ctr">
              <a:defRPr sz="3000" b="1">
                <a:solidFill>
                  <a:srgbClr val="1A527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세 가지 주요 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52578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ctr">
              <a:defRPr sz="12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안전하고 공정하며 효율적인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59436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ctr">
              <a:defRPr sz="2000" b="1">
                <a:solidFill>
                  <a:srgbClr val="C0392B"/>
                </a:solidFill>
                <a:latin typeface="微软雅黑" panose="020B0503020204020204" charset="-122"/>
              </a:defRPr>
            </a:pPr>
            <a:r xmlns:a="http://schemas.openxmlformats.org/drawingml/2006/main">
              <a:t>핵심 질문: 안전하고 효율적이며 공정한 AI 모델 거래 시장을 어떻게 구축할 수 있을까?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핵심 코드 구현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핵심 구현 — 모든 코드는 이 페이지에만 표시됩니다.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5156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9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개발 환경: Python 3.10 이상 | PyTorch 2.1.0 | Flower 1.5.0 | Hyperledger Fabric 2.5 | Opacus 1.4.0 | 전체 코드는 기술 부록을 참조하십시오.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463040"/>
            <a:ext cx="3657600" cy="24688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1499616"/>
            <a:ext cx="3511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900" b="1">
                <a:solidFill>
                  <a:srgbClr val="1A527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1. 연합 학습 — 분포 인식 집계 (proposed_server.py)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30352" y="1719072"/>
            <a:ext cx="1389888" cy="0"/>
          </a:xfrm>
          <a:prstGeom prst="line">
            <a:avLst/>
          </a:prstGeom>
          <a:ln w="1016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0352" y="1737360"/>
            <a:ext cx="351129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def __init__(self, num_classes=10, temperature=1.0):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self.num_classes = num_classes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self.temperature = 온도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def aggregate_fit(self, round, results, failures):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# 1) 각 클라이언트의 로컬 데이터 분포를 추정합니다.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dists = {cid: self._estimate_distribution(p)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cid, p에 대해 enumerate(results)}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# 2) JS 발산 -&gt; 분포 유사성 가중치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uniform = np.ones(nc) / nc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가중치 = {cid: np.exp(-jensenshannon(d, uniform)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/ self.temperature) for cid, d in dists.items()}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# 3) 표본 가중치 x 분포 가중치 -&gt; 가중 집계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agg = [sum(p*n*weights[cid] for (p,n),cid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zip(results,dists)) / sum(n*weights[cid]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for (_,n),cid in zip(results,dists))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_의 범위(len(results[0][0]))]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agg 반환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97680" y="1463040"/>
            <a:ext cx="3657600" cy="24688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70832" y="1499616"/>
            <a:ext cx="3511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900" b="1">
                <a:solidFill>
                  <a:srgbClr val="E67E22"/>
                </a:solidFill>
                <a:latin typeface="微软雅黑" panose="020B0503020204020204" charset="-122"/>
              </a:defRPr>
            </a:pPr>
            <a:r xmlns:a="http://schemas.openxmlformats.org/drawingml/2006/main">
              <a:t>2. 区块链 — 模型注册链码 (model-registry.js)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370832" y="1719072"/>
            <a:ext cx="1389888" cy="0"/>
          </a:xfrm>
          <a:prstGeom prst="line">
            <a:avLst/>
          </a:prstGeom>
          <a:ln w="10160">
            <a:solidFill>
              <a:srgbClr val="E67E2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4370832" y="1737360"/>
            <a:ext cx="351129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async registerModel(ctx, modelId, ownerId, meta):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const exists = await this.modelExists(ctx, modelId);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이미 존재하는 경우 '이미 존재합니다'라는 오류를 발생시킵니다.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const model = {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모델 ID, 소유자 ID,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메타데이터: JSON.parse(meta),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ipfsHash: meta.ipfsHash || '',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상태: '등록됨'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registeredAt: new Date().toISOString(),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거래 건수: 0, 평판 점수: 100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};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await ctx.stub.putState(modelId,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Buffer.from(JSON.stringify(model)));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ctx.stub.setEvent('모델 등록됨',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Buffer.from(JSON.stringify({modelId,ownerId})));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JSON.stringify(model)을 반환합니다.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38160" y="1463040"/>
            <a:ext cx="3657600" cy="246888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499616"/>
            <a:ext cx="35112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900" b="1">
                <a:solidFill>
                  <a:srgbClr val="C0392B"/>
                </a:solidFill>
                <a:latin typeface="微软雅黑" panose="020B0503020204020204" charset="-122"/>
              </a:defRPr>
            </a:pPr>
            <a:r xmlns:a="http://schemas.openxmlformats.org/drawingml/2006/main">
              <a:t>3. 激励机제 — TMC-Shapley (tmc_shapley.py)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211312" y="1719072"/>
            <a:ext cx="1389888" cy="0"/>
          </a:xfrm>
          <a:prstGeom prst="line">
            <a:avLst/>
          </a:prstGeom>
          <a:ln w="1016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211312" y="1737360"/>
            <a:ext cx="3511296" cy="2157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클래스 TMCShapley: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def __init__(self, U, nodes, M=5000):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self.U = U; self.nodes = 노드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self.n = len(노드 수); self.M = M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def compute(self):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합계 = {n: 0.0 for n in self.nodes}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m이 범위(self.M)에 있는 경우: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perm = self.rng.permutation(self.nodes)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prev = self.U([])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영구 노드의 경우: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cur = self.U(perm[:perm.index(node)+1])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한계값 = 현재값 - 이전값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한계 &lt; 0.001인 경우: break # 截断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sums[node] += marginal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이전 = 현재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{n: s/self.M for n, s in sums.items()}를 반환합니다.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# O(M*n^2)替代O(2^n), n=100时误差&lt;0.5%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160520"/>
            <a:ext cx="5669280" cy="22860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" y="4197096"/>
            <a:ext cx="552297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900" b="1">
                <a:solidFill>
                  <a:srgbClr val="27AE6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4. 差分隐私 — DP-SGD训练(차등_privacy.py)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30352" y="4416552"/>
            <a:ext cx="2194560" cy="0"/>
          </a:xfrm>
          <a:prstGeom prst="line">
            <a:avLst/>
          </a:prstGeom>
          <a:ln w="1016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30352" y="4434840"/>
            <a:ext cx="5522976" cy="1645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클래스 DPClient: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def __init__(self, model, optimizer, eps=1.0):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self.privacy_engine = PrivacyEngine()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self.model = ModuleValidator.fix(model)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self.model, self.opt, _ = \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self.privacy_engine.make_private(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모듈=self.model,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최적화 도구=최적화 도구,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noise_multiplier=2.0, # eps=1.0 보정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max_grad_norm=1.0,</a:t>
            </a: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델타=1e-5)</a:t>
            </a:r>
          </a:p>
          <a:p>
            <a:pPr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</a:p>
          <a:p>
            <a:pPr xmlns:a="http://schemas.openxmlformats.org/drawingml/2006/main">
              <a:spcAft>
                <a:spcPts val="100"/>
              </a:spcAft>
              <a:defRPr sz="70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    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09360" y="4160520"/>
            <a:ext cx="5486400" cy="228600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382512" y="4197096"/>
            <a:ext cx="5340096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900" b="1">
                <a:solidFill>
                  <a:srgbClr val="1A527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5. 주요 실험 프로그램 – 연합 학습 실행 (run_fl_experiment.py)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382512" y="4416552"/>
            <a:ext cx="2121408" cy="0"/>
          </a:xfrm>
          <a:prstGeom prst="line">
            <a:avLst/>
          </a:prstGeom>
          <a:ln w="1016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382512" y="4434840"/>
            <a:ext cx="5340096" cy="2109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def run_experiment(config):</a:t>
            </a:r>
          </a:p>
          <a:p>
            <a:pPr xmlns:a="http://schemas.openxmlformats.org/drawingml/2006/main"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데이터셋 = config["dataset"] # CIFAR10/100/MNIST</a:t>
            </a:r>
          </a:p>
          <a:p>
            <a:pPr xmlns:a="http://schemas.openxmlformats.org/drawingml/2006/main"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n_clients = config["num_clients"] # 10/50/100</a:t>
            </a:r>
          </a:p>
          <a:p>
            <a:pPr xmlns:a="http://schemas.openxmlformats.org/drawingml/2006/main"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alpha = config["alpha"] # 디리클레 농도: 0.1/0.5</a:t>
            </a:r>
          </a:p>
          <a:p>
            <a:pPr xmlns:a="http://schemas.openxmlformats.org/drawingml/2006/main"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method = config["method"] # FedAvg/Prox/SCAFFOLD/Ours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</a:p>
          <a:p>
            <a:pPr xmlns:a="http://schemas.openxmlformats.org/drawingml/2006/main"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train, test, nc = load_dataset(dataset)</a:t>
            </a:r>
          </a:p>
          <a:p>
            <a:pPr xmlns:a="http://schemas.openxmlformats.org/drawingml/2006/main"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레이블 = np.array(train.targets)</a:t>
            </a:r>
          </a:p>
          <a:p>
            <a:pPr xmlns:a="http://schemas.openxmlformats.org/drawingml/2006/main"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파티션 = 디리클레 분할(레이블,</a:t>
            </a:r>
          </a:p>
          <a:p>
            <a:pPr xmlns:a="http://schemas.openxmlformats.org/drawingml/2006/main"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n_클라이언트, 알파, 시드=42)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</a:p>
          <a:p>
            <a:pPr xmlns:a="http://schemas.openxmlformats.org/drawingml/2006/main"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클라이언트 = [FlowerClient(cid,</a:t>
            </a:r>
          </a:p>
          <a:p>
            <a:pPr xmlns:a="http://schemas.openxmlformats.org/drawingml/2006/main"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DataLoader(Subset(train, partitions[cid]),</a:t>
            </a:r>
          </a:p>
          <a:p>
            <a:pPr xmlns:a="http://schemas.openxmlformats.org/drawingml/2006/main"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(배치 크기=64, 셔플=True)</a:t>
            </a:r>
          </a:p>
          <a:p>
            <a:pPr xmlns:a="http://schemas.openxmlformats.org/drawingml/2006/main"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데이터로더(테스트, 배치 크기=128),</a:t>
            </a:r>
          </a:p>
          <a:p>
            <a:pPr xmlns:a="http://schemas.openxmlformats.org/drawingml/2006/main"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모델=ResNet18(클래스 수=nc))</a:t>
            </a:r>
          </a:p>
          <a:p>
            <a:pPr xmlns:a="http://schemas.openxmlformats.org/drawingml/2006/main"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  <a:r xmlns:a="http://schemas.openxmlformats.org/drawingml/2006/main">
              <a:t>[범위(n_clients) 내 cid에 대해]</a:t>
            </a:r>
          </a:p>
          <a:p>
            <a:pPr>
              <a:spcAft>
                <a:spcPts val="100"/>
              </a:spcAft>
              <a:defRPr sz="650">
                <a:solidFill>
                  <a:srgbClr val="2D3436"/>
                </a:solidFill>
                <a:latin typeface="Consolas" panose="020B0609020204030204"/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연구 목표 및 혁신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목표 및 접근 방식</a:t>
            </a:r>
          </a:p>
        </p:txBody>
      </p:sp>
      <p:sp>
        <p:nvSpPr>
          <p:cNvPr id="5" name="Rounded Rectangle 4"/>
          <p:cNvSpPr/>
          <p:nvPr>
            <p:custDataLst>
              <p:tags r:id="rId1"/>
            </p:custDataLst>
          </p:nvPr>
        </p:nvSpPr>
        <p:spPr>
          <a:xfrm>
            <a:off x="457200" y="1371600"/>
            <a:ext cx="3566160" cy="5029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2"/>
            </p:custDataLst>
          </p:nvPr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500" b="1">
                <a:solidFill>
                  <a:srgbClr val="1A527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6가지 주요 연구 목표</a:t>
            </a:r>
          </a:p>
        </p:txBody>
      </p:sp>
      <p:cxnSp>
        <p:nvCxnSpPr>
          <p:cNvPr id="7" name="Connector 6"/>
          <p:cNvCxnSpPr/>
          <p:nvPr>
            <p:custDataLst>
              <p:tags r:id="rId3"/>
            </p:custDataLst>
          </p:nvPr>
        </p:nvCxnSpPr>
        <p:spPr>
          <a:xfrm>
            <a:off x="640080" y="1920240"/>
            <a:ext cx="11887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>
            <p:custDataLst>
              <p:tags r:id="rId4"/>
            </p:custDataLst>
          </p:nvPr>
        </p:nvSpPr>
        <p:spPr>
          <a:xfrm>
            <a:off x="640080" y="2103120"/>
            <a:ext cx="3200400" cy="10915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1. 인더스트리 5.0을 위한 5계층 하이브리드 아키텍처를 설계하십시오.</a:t>
            </a:r>
          </a:p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2. 계약 이론 - 3단계 품질 계약 메뉴</a:t>
            </a:r>
          </a:p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3. 4차원적 기여도 평가 모델(CCS)</a:t>
            </a:r>
          </a:p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rPr lang="ko"/>
              <a:t>4. </a:t>
            </a:r>
            <a:r xmlns:a="http://schemas.openxmlformats.org/drawingml/2006/main">
              <a:t>통합된 데이터 보호 및 개인정보 보호</a:t>
            </a:r>
          </a:p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rPr lang="ko"/>
              <a:t>5. </a:t>
            </a:r>
            <a:r xmlns:a="http://schemas.openxmlformats.org/drawingml/2006/main">
              <a:t>프로토타입 시스템 + 다차원 실험 검증</a:t>
            </a:r>
          </a:p>
        </p:txBody>
      </p:sp>
      <p:sp>
        <p:nvSpPr>
          <p:cNvPr id="9" name="Rounded Rectangle 8"/>
          <p:cNvSpPr/>
          <p:nvPr>
            <p:custDataLst>
              <p:tags r:id="rId5"/>
            </p:custDataLst>
          </p:nvPr>
        </p:nvSpPr>
        <p:spPr>
          <a:xfrm>
            <a:off x="4297680" y="1371600"/>
            <a:ext cx="3566160" cy="5029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6"/>
            </p:custDataLst>
          </p:nvPr>
        </p:nvSpPr>
        <p:spPr>
          <a:xfrm>
            <a:off x="44805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500" b="1">
                <a:solidFill>
                  <a:srgbClr val="C0392B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세 가지 핵심 혁신</a:t>
            </a:r>
          </a:p>
        </p:txBody>
      </p:sp>
      <p:cxnSp>
        <p:nvCxnSpPr>
          <p:cNvPr id="11" name="Connector 10"/>
          <p:cNvCxnSpPr/>
          <p:nvPr>
            <p:custDataLst>
              <p:tags r:id="rId7"/>
            </p:custDataLst>
          </p:nvPr>
        </p:nvCxnSpPr>
        <p:spPr>
          <a:xfrm>
            <a:off x="4480560" y="1920240"/>
            <a:ext cx="1188720" cy="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>
            <p:custDataLst>
              <p:tags r:id="rId8"/>
            </p:custDataLst>
          </p:nvPr>
        </p:nvSpPr>
        <p:spPr>
          <a:xfrm>
            <a:off x="4480560" y="2103120"/>
            <a:ext cx="3200400" cy="883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혁신 1: 분산 제어 + 중앙 집중식 실행</a:t>
            </a:r>
          </a:p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계층형 하이브리드 건축 설계 패러다임</a:t>
            </a:r>
          </a:p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혁신 2: 계약 이론 + 2단계 인센티브 메커니즘</a:t>
            </a:r>
          </a:p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혁신 3: AI 모델 시장에 대한 최초의 정량적 분석</a:t>
            </a:r>
          </a:p>
        </p:txBody>
      </p:sp>
      <p:sp>
        <p:nvSpPr>
          <p:cNvPr id="13" name="Rounded Rectangle 12"/>
          <p:cNvSpPr/>
          <p:nvPr>
            <p:custDataLst>
              <p:tags r:id="rId9"/>
            </p:custDataLst>
          </p:nvPr>
        </p:nvSpPr>
        <p:spPr>
          <a:xfrm>
            <a:off x="8138160" y="1371600"/>
            <a:ext cx="3566160" cy="5029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>
            <p:custDataLst>
              <p:tags r:id="rId10"/>
            </p:custDataLst>
          </p:nvPr>
        </p:nvSpPr>
        <p:spPr>
          <a:xfrm>
            <a:off x="83210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500" b="1">
                <a:solidFill>
                  <a:srgbClr val="27AE6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기술적 경로</a:t>
            </a:r>
          </a:p>
        </p:txBody>
      </p:sp>
      <p:cxnSp>
        <p:nvCxnSpPr>
          <p:cNvPr id="15" name="Connector 14"/>
          <p:cNvCxnSpPr/>
          <p:nvPr>
            <p:custDataLst>
              <p:tags r:id="rId11"/>
            </p:custDataLst>
          </p:nvPr>
        </p:nvCxnSpPr>
        <p:spPr>
          <a:xfrm>
            <a:off x="8321040" y="1920240"/>
            <a:ext cx="1188720" cy="0"/>
          </a:xfrm>
          <a:prstGeom prst="line">
            <a:avLst/>
          </a:prstGeom>
          <a:ln w="127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>
            <p:custDataLst>
              <p:tags r:id="rId12"/>
            </p:custDataLst>
          </p:nvPr>
        </p:nvSpPr>
        <p:spPr>
          <a:xfrm>
            <a:off x="8321040" y="2103120"/>
            <a:ext cx="3200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엣지 컴퓨팅 + 연합 학습</a:t>
            </a:r>
          </a:p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다섯</a:t>
            </a:r>
          </a:p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블록체인 + IPFS(스마트 계약)</a:t>
            </a:r>
          </a:p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다섯</a:t>
            </a:r>
          </a:p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개인정보보호 컴퓨팅(DP/SMPC/HE)</a:t>
            </a:r>
          </a:p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다섯</a:t>
            </a:r>
          </a:p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게임 이론 메커니즘 (계약/쉐플리)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5층 하이브리드 아키텍처 설계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건축 디자인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11247120" cy="5486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>
            <p:custDataLst>
              <p:tags r:id="rId1"/>
            </p:custDataLst>
          </p:nvPr>
        </p:nvSpPr>
        <p:spPr>
          <a:xfrm>
            <a:off x="640080" y="1353312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400" b="1">
                <a:solidFill>
                  <a:srgbClr val="C0392B"/>
                </a:solidFill>
                <a:latin typeface="微软雅黑" panose="020B0503020204020204" charset="-122"/>
              </a:defRPr>
            </a:pPr>
            <a:r xmlns:a="http://schemas.openxmlformats.org/drawingml/2006/main">
              <a:t>5. 응용 프로그램 계층</a:t>
            </a:r>
          </a:p>
        </p:txBody>
      </p:sp>
      <p:sp>
        <p:nvSpPr>
          <p:cNvPr id="7" name="TextBox 6"/>
          <p:cNvSpPr txBox="1"/>
          <p:nvPr>
            <p:custDataLst>
              <p:tags r:id="rId2"/>
            </p:custDataLst>
          </p:nvPr>
        </p:nvSpPr>
        <p:spPr>
          <a:xfrm>
            <a:off x="3291840" y="1371600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웹 포털 | 모바일 앱 | API 게이트웨이 | MES/ERP 통합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38528"/>
            <a:ext cx="11247120" cy="5486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640080" y="201168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400" b="1">
                <a:solidFill>
                  <a:srgbClr val="E67E22"/>
                </a:solidFill>
                <a:latin typeface="微软雅黑" panose="020B0503020204020204" charset="-122"/>
              </a:defRPr>
            </a:pPr>
            <a:r xmlns:a="http://schemas.openxmlformats.org/drawingml/2006/main">
              <a:t>4. 서비스 계층</a:t>
            </a: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3291840" y="2029968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모델 등록 | 검색 결과 일치율(85% 이상) | 거래 정산 | 평가 및 피드백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596896"/>
            <a:ext cx="11247120" cy="5486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>
            <p:custDataLst>
              <p:tags r:id="rId5"/>
            </p:custDataLst>
          </p:nvPr>
        </p:nvSpPr>
        <p:spPr>
          <a:xfrm>
            <a:off x="640080" y="2670048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400" b="1">
                <a:solidFill>
                  <a:srgbClr val="2980B9"/>
                </a:solidFill>
                <a:latin typeface="微软雅黑" panose="020B0503020204020204" charset="-122"/>
              </a:defRPr>
            </a:pPr>
            <a:r xmlns:a="http://schemas.openxmlformats.org/drawingml/2006/main">
              <a:t>3. 연합 학습 계층</a:t>
            </a:r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3291840" y="2688336"/>
            <a:ext cx="8046720" cy="275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FedAvg / FedProx / SCAFFOLD | 유통 경로를 고려한 중량 조정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255264"/>
            <a:ext cx="11247120" cy="5486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>
            <p:custDataLst>
              <p:tags r:id="rId7"/>
            </p:custDataLst>
          </p:nvPr>
        </p:nvSpPr>
        <p:spPr>
          <a:xfrm>
            <a:off x="640080" y="3328416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400" b="1">
                <a:solidFill>
                  <a:srgbClr val="27AE6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2. 개인정보 보호 컴퓨팅 계층</a:t>
            </a:r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3291840" y="3346704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로컬 DP | SMPC(SPDZ 프로토콜) | 동형 암호화 HE -- 레벨 3 보안(선택 사항)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913631"/>
            <a:ext cx="11247120" cy="548640"/>
          </a:xfrm>
          <a:prstGeom prst="roundRect">
            <a:avLst/>
          </a:prstGeom>
          <a:solidFill>
            <a:srgbClr val="FAFA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>
            <p:custDataLst>
              <p:tags r:id="rId9"/>
            </p:custDataLst>
          </p:nvPr>
        </p:nvSpPr>
        <p:spPr>
          <a:xfrm>
            <a:off x="640080" y="3986783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1. 블록체인 레이어</a:t>
            </a:r>
          </a:p>
        </p:txBody>
      </p:sp>
      <p:sp>
        <p:nvSpPr>
          <p:cNvPr id="19" name="TextBox 18"/>
          <p:cNvSpPr txBox="1"/>
          <p:nvPr>
            <p:custDataLst>
              <p:tags r:id="rId10"/>
            </p:custDataLst>
          </p:nvPr>
        </p:nvSpPr>
        <p:spPr>
          <a:xfrm>
            <a:off x="3291840" y="4005071"/>
            <a:ext cx="8046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200" b="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하이퍼레저 패브릭 컨소시엄 블록체인 | 자동화된 스마트 계약 결제 | IPFS(CID 앵커링)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846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1A527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설계 철학: 분산형 하위 계층은 보안과 공정성을 보장하고, 중앙 집중형 상위 계층은 효율성과 사용자 경험을 최적화합니다.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548640" y="5577840"/>
          <a:ext cx="109728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67542"/>
                <a:gridCol w="1567542"/>
                <a:gridCol w="1567542"/>
                <a:gridCol w="1567542"/>
                <a:gridCol w="1567542"/>
                <a:gridCol w="1567542"/>
                <a:gridCol w="1567548"/>
              </a:tblGrid>
              <a:tr h="54864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필요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실시간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보안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확장성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개인정보 보호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공평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유효성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목표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&lt;=500ms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&gt;=95% 탐지율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100개 이상의 노드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엡실론 &lt;= 1.0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지니 계수 &lt;= 0.35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99.5% 이상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핵심 데이터 흐름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데이터 흐름 설계</a:t>
            </a:r>
          </a:p>
        </p:txBody>
      </p:sp>
      <p:pic>
        <p:nvPicPr>
          <p:cNvPr id="5" name="Picture 4" descr="fig3_2_dataflow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721995"/>
            <a:ext cx="10515600" cy="63093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1885315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(a) 등록: 엣지 디바이스 -&gt; 특징 추출 -&gt; DP 비식별화 -&gt; 서비스 등록 -&gt; 블록체인 공증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07125" y="1885315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(b) 검색: 사용자 쿼리 -&gt; 매칭 엔진 -&gt; 다중 요소 정렬 -&gt; 결과 반환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(c) 거래: 개시 -&gt; 스마트 계약 검증 -&gt; IPFS 이체 -&gt; 확인 -&gt; 수익 분배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13145" y="4572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000" b="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(d) 연합 학습: 로컬 학습 -&gt; 그래디언트 암호화 -&gt; SMPC 보안 집계 -&gt; 전역 업데이트 -&gt; 분산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2단계 인센티브 메커니즘 설계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인센티브 메커니즘: 계약 + 셰이플리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280160"/>
            <a:ext cx="5486400" cy="25603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400" b="1">
                <a:solidFill>
                  <a:srgbClr val="C0392B"/>
                </a:solidFill>
                <a:latin typeface="微软雅黑" panose="020B0503020204020204" charset="-122"/>
              </a:defRPr>
            </a:pPr>
            <a:r xmlns:a="http://schemas.openxmlformats.org/drawingml/2006/main">
              <a:t>1단계: 계약 이론 - 3단계 품질 계약 메뉴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783080"/>
            <a:ext cx="2103120" cy="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920240"/>
          <a:ext cx="484632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11580"/>
                <a:gridCol w="1211580"/>
                <a:gridCol w="1211580"/>
                <a:gridCol w="1211580"/>
              </a:tblGrid>
              <a:tr h="41148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등급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정확성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지연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보수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기초적인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85% 이상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&lt;=50ms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토큰 + 성과 보너스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기준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90% 이상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&lt;=30ms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토큰 + 성과 보너스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프리미엄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&gt;=95%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&lt;=15ms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토큰 + 성과 보너스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40080" y="3566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C0392B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자율 선택: 공급자들이 자신의 품질에 맞는 계약을 자발적으로 선택함 -&gt; 역선택 제거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280160"/>
            <a:ext cx="5486400" cy="25603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3716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400" b="1">
                <a:solidFill>
                  <a:srgbClr val="27AE6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두 번째 계층: 샤플리 값 - 공정한 배분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3200400" y="1783080"/>
            <a:ext cx="3200400" cy="0"/>
          </a:xfrm>
          <a:prstGeom prst="line">
            <a:avLst/>
          </a:prstGeom>
          <a:ln w="127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00800" y="192024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R_i = R_total x (phi_i / phi_j 합계)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phi_i: 노드 i가 가능한 모든 동맹에 가입하는 순서.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모델 성능에 대한 평균 한계 기여도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속성: 효율성 + 대칭성 + 가상성 + 가산성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네 가지 공리를 모두 만족하는 유일한 공정한 분배 방식</a:t>
            </a:r>
          </a:p>
          <a:p>
            <a:pPr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TMC-Shapley 근사법: O(M*n^2)는 O(2^n)을 대체합니다.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n=100, M=5000 -&gt; 오차 &lt; 0.5%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4114800"/>
            <a:ext cx="1124712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2062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4차원 종합 기여도 점수(CCS)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617720"/>
            <a:ext cx="25603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640080" y="475488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CCS = 0.40 x 모델 품질(C_q) + 0.25 x 데이터 기여도(C_d) + 0.20 x 계산 자원(C_c) + 0.15 x 평판(C_r)</a:t>
            </a:r>
          </a:p>
          <a:p>
            <a:pPr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</a:p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C_q: 벤치마크 데이터셋에서의 정확도/F1/AUC; C_d: 데이터 용량 x 엔트로피 다양성; C_c: GPU 시간/통신 대역폭; C_r: 과거 성능 + 만족도 + 지속가능성.</a:t>
            </a:r>
          </a:p>
          <a:p>
            <a:pPr xmlns:a="http://schemas.openxmlformats.org/drawingml/2006/main">
              <a:spcAft>
                <a:spcPts val="300"/>
              </a:spcAft>
              <a:defRPr sz="11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가중 동적 전략: 초기 시장 단계(참여 유도를 위해 C_c/C_r 증가) -&gt; 성숙 단계(경쟁의 질을 높이기 위해 C_q 증가) -&gt; 적응형 스케줄링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실험 장치 구성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실험 장치 구성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32004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실험 요소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구성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데이터셋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MNIST/패션-MNIST/CIFAR-10/CIFAR-100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모델 아키텍처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ResNet-18 (PyTorch 2.1.0)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비IID 분류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디리클레 분포 알파 = 0.1 (매우 이질적) / 0.5 (중간 정도)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노드 크기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n = 10, 50, 100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의사소통 라운드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총 200라운드로 진행되며, 각 라운드마다 고객의 30%가 무작위로 참여합니다.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현지 교육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SGD 최적화 도구(lr=0.01, 모멘텀=0.9), 5 에포크/배치=64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반복 실험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5회의 독립적인 반복 실험을 수행했으며, 보고된 평균값 ± 표준편차를 사용했습니다.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1371600"/>
          <a:ext cx="530352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2651760"/>
              </a:tblGrid>
              <a:tr h="512064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비교 차원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비교 방법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연방 학습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FedAvg/FedProx/SCAFFOLD/FedNova/Ours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인센티브 메커니즘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인센티브 없음 / 고정 보상 / 평판 기반 / 시장 가격 / Shapley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개인정보 보호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무보호 / DP (엡실론=0.5,1.0,2.0,5.0) / SMPC+DP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보안 공격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멤버십 추론 공격(MIA) / 모델 역공격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457200" y="4206240"/>
            <a:ext cx="11247120" cy="22860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42976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400" b="1">
                <a:solidFill>
                  <a:srgbClr val="1A527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다섯 가지 연구 가설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40080" y="4709160"/>
            <a:ext cx="21031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640080" y="4846320"/>
            <a:ext cx="107899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H1: 제안된 방법은 비IID 정확도에서 FedAvg보다 현저히 우수한 성능을 보인다(목표: +3pp). H2: Shapley 할당의 지니 계수는 자극을 가하지 않은 경우보다 현저히 낮다(목표: &lt;0.35).</a:t>
            </a:r>
          </a:p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H3: 차분 프라이버시는 고전적인 프라이버시-정확도 상충 관계(목표: 엡실론 = 1.0 균형점)를 수반합니다. H4: 블록체인은 허용 가능한 수준의 오버헤드를 도입하면서 신뢰성을 향상시킵니다.</a:t>
            </a:r>
          </a:p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H5: 100개 노드 환경에서 TPS 800 이상, 트랜잭션 성공률 95% 이상 (산업 수준의 타당성 검증)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연합 학습 성능 결과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연합 학습 성과</a:t>
            </a:r>
          </a:p>
        </p:txBody>
      </p:sp>
      <p:pic>
        <p:nvPicPr>
          <p:cNvPr id="5" name="Picture 4" descr="fig5_1_fl_accurac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5486400" cy="3429000"/>
          </a:xfrm>
          <a:prstGeom prst="rect">
            <a:avLst/>
          </a:prstGeom>
        </p:spPr>
      </p:pic>
      <p:pic>
        <p:nvPicPr>
          <p:cNvPr id="6" name="Picture 5" descr="fig5_2_converge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3429000"/>
          </a:xfrm>
          <a:prstGeom prst="rect">
            <a:avLst/>
          </a:prstGeom>
        </p:spPr>
      </p:pic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274320" y="4572000"/>
          <a:ext cx="59436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5900"/>
                <a:gridCol w="1485900"/>
                <a:gridCol w="1485900"/>
                <a:gridCol w="1485900"/>
              </a:tblGrid>
              <a:tr h="329184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방법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정확성 (%)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75% 수렴 주기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10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연방평균 대비</a:t>
                      </a:r>
                    </a:p>
                  </a:txBody>
                  <a:tcPr>
                    <a:solidFill>
                      <a:srgbClr val="1A5276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FedAvg(기준선)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78.42 ± 0.83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187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-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페드프록스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79.81 ± 0.65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174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+1.39pp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발판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80.33 ± 0.52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165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+1.91pp</a:t>
                      </a:r>
                    </a:p>
                  </a:txBody>
                  <a:tcPr>
                    <a:solidFill>
                      <a:srgbClr val="F8F9FA"/>
                    </a:solidFill>
                  </a:tcPr>
                </a:tc>
              </a:tr>
              <a:tr h="329184"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본 논문에서 제안하는 방법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81.59 ± 0.48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152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xmlns:a="http://schemas.openxmlformats.org/drawingml/2006/main" algn="ctr">
                        <a:defRPr sz="900">
                          <a:solidFill>
                            <a:srgbClr val="2C3E50"/>
                          </a:solidFill>
                          <a:latin typeface="微软雅黑" panose="020B0503020204020204" charset="-122"/>
                        </a:defRPr>
                      </a:pPr>
                      <a:r xmlns:a="http://schemas.openxmlformats.org/drawingml/2006/main">
                        <a:t>+3.17pp***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6400800" y="4572000"/>
            <a:ext cx="530352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466344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주요 결과: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제안된 방법 = 최고 정확도 + 가장 빠른 수렴 속도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연방평균 대비 3.17%포인트 개선 (p&lt;0.01)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수렴 속도가 18.7% 증가했습니다 (187라운드에서 152라운드로).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SCAFFOLD의 통신 오버헤드는 제안된 방법의 1.7배입니다.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- 4개 데이터 세트 모두에서 선두를 차지했습니다.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CIFAR-100: 연준평균 대비 +3.16%포인트 상승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인센티브 및 개인정보 보호 결과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인센티브 및 개인정보보호 결과</a:t>
            </a:r>
          </a:p>
        </p:txBody>
      </p:sp>
      <p:pic>
        <p:nvPicPr>
          <p:cNvPr id="5" name="Picture 4" descr="fig5_4_incenti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5486400" cy="3771900"/>
          </a:xfrm>
          <a:prstGeom prst="rect">
            <a:avLst/>
          </a:prstGeom>
        </p:spPr>
      </p:pic>
      <p:pic>
        <p:nvPicPr>
          <p:cNvPr id="6" name="Picture 5" descr="fig5_5_privacy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754880"/>
            <a:ext cx="54864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샤플리 인센티브 메커니즘의 효과성: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참여율: 62.3% -&gt; 87.4% (+25.1%p)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지니 계수: 0.487 -&gt; 0.285 (41.5% 감소)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고품질 서비스 제공업체 비율: 28.5% -&gt; 56.7%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섀플리 편향은 0.071에 불과합니다(최적의 공정성).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공정성과 효율성 사이의 균형을 이루는 것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754880"/>
            <a:ext cx="530352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846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개인정보보호와 정확성 간의 상충 관계: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MIA 공격 성공률: 68.3% -&gt; 12.3% (82% 감소)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정확도 손실은 1.78pp(79.81%)에 불과했습니다.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엡실론=1.0은 실질적인 평형점입니다.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SMPC+DP 합산: MIA가 9.6%로 하락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엡실론=0.5일 때 노이즈가 너무 높습니다.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(정확도가 77.43%로 급락했습니다)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시스템 성능과 3진법 간의 상충 관계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시스템 성능 및 트릴레마</a:t>
            </a:r>
          </a:p>
        </p:txBody>
      </p:sp>
      <p:pic>
        <p:nvPicPr>
          <p:cNvPr id="5" name="Picture 4" descr="fig5_6_scalabil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4320" y="1188720"/>
            <a:ext cx="5486400" cy="3429000"/>
          </a:xfrm>
          <a:prstGeom prst="rect">
            <a:avLst/>
          </a:prstGeom>
        </p:spPr>
      </p:pic>
      <p:pic>
        <p:nvPicPr>
          <p:cNvPr id="6" name="Picture 5" descr="fig5_7_secur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342900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274320" y="4754880"/>
            <a:ext cx="548640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48463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시스템 확장성(100개 노드):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TPS: 820, 등록 지연 시간: 44ms (500ms 이하보다 훨씬 우수함)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거래 성공률: 95.8% (목표치 95% 이상 달성)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위조품 탐지율: 98.9%, 오탐률: 0.0%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저장 공간 오버헤드: 17.5% (블록체인 합의 알고리즘의 제어 가능한 범위 내)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다섯 가지 가설 H1~H5 모두 참이다 (p&lt;0.01)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754880"/>
            <a:ext cx="5303520" cy="164592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846320"/>
            <a:ext cx="49377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삼중 딜레마에 대한 실증적 증거: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모델 성능 / 개인정보 보호 / 거래 신뢰성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세 가지 모두 동시에 최적일 수는 없습니다.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권장 산업 운영 지점: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엡실론=1.0, TPS=820, 정확도=79.81%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AI 모델 마켓에 최초로 제공</a:t>
            </a:r>
          </a:p>
          <a:p>
            <a:pPr xmlns:a="http://schemas.openxmlformats.org/drawingml/2006/main">
              <a:spcAft>
                <a:spcPts val="300"/>
              </a:spcAft>
              <a:defRPr sz="10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삼자간 상충관계에 대한 실증적 양적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3000" b="1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요약 및 전망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48640" y="914400"/>
            <a:ext cx="11064240" cy="0"/>
          </a:xfrm>
          <a:prstGeom prst="line">
            <a:avLst/>
          </a:prstGeom>
          <a:ln w="254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3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결론 및 향후 연구 방향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371600"/>
            <a:ext cx="356616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600" b="1">
                <a:solidFill>
                  <a:srgbClr val="1A527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건축 분야 기여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40080" y="1920240"/>
            <a:ext cx="11887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640080" y="21031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5층 구조의 하이브리드 아키텍처가 최초로 제안되었다.</a:t>
            </a:r>
          </a:p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4가지 기술(엣지/연합/블록체인/프라이버시)의 융합</a:t>
            </a:r>
          </a:p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3단계 개인정보 보호 옵션</a:t>
            </a:r>
          </a:p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분산 제어 + 중앙 집중식 실행 패러다임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1371600"/>
            <a:ext cx="356616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600" b="1">
                <a:solidFill>
                  <a:srgbClr val="C0392B"/>
                </a:solidFill>
                <a:latin typeface="微软雅黑" panose="020B0503020204020204" charset="-122"/>
              </a:defRPr>
            </a:pPr>
            <a:r xmlns:a="http://schemas.openxmlformats.org/drawingml/2006/main">
              <a:t>기관 기여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480560" y="1920240"/>
            <a:ext cx="1188720" cy="0"/>
          </a:xfrm>
          <a:prstGeom prst="line">
            <a:avLst/>
          </a:prstGeom>
          <a:ln w="12700">
            <a:solidFill>
              <a:srgbClr val="C0392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480560" y="21031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계약 이론 + 섀플리 2단계 인센티브</a:t>
            </a:r>
          </a:p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레벨 3 품질 계약은 역선택을 방지합니다.</a:t>
            </a:r>
          </a:p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TMC-Shapley 공정 배분(오차 &lt;0.5%)</a:t>
            </a:r>
          </a:p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4차원 CCS 기여도 평가 모델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1371600"/>
            <a:ext cx="3566160" cy="27432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1463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l">
              <a:defRPr sz="1600" b="1">
                <a:solidFill>
                  <a:srgbClr val="27AE6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실증적 기여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321040" y="1920240"/>
            <a:ext cx="1188720" cy="0"/>
          </a:xfrm>
          <a:prstGeom prst="line">
            <a:avLst/>
          </a:prstGeom>
          <a:ln w="12700">
            <a:solidFill>
              <a:srgbClr val="27AE6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321040" y="2103120"/>
            <a:ext cx="3200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정확도 +3.17pp | 지니 계수 0.285</a:t>
            </a:r>
          </a:p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MIA 방어율 82% | 820 TPS/95.8%</a:t>
            </a:r>
          </a:p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다섯 가지 가정이 모두 참입니다</a:t>
            </a:r>
          </a:p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삼원 상충관계의 첫 번째 정량화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389120"/>
            <a:ext cx="11247120" cy="1371600"/>
          </a:xfrm>
          <a:prstGeom prst="roundRect">
            <a:avLst/>
          </a:prstGeom>
          <a:solidFill>
            <a:srgbClr val="F8F9FA"/>
          </a:solidFill>
          <a:ln w="6350">
            <a:solidFill>
              <a:srgbClr val="E0E0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1520" y="4480560"/>
            <a:ext cx="107899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향후 방향:</a:t>
            </a:r>
          </a:p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- 1,000개 이상의 노드로 구성된 실제 테스트베드에서의 검증 - 실제 산업 데이터(제조/물류/에너지)를 활용한 장기 연구</a:t>
            </a:r>
          </a:p>
          <a:p>
            <a:pPr xmlns:a="http://schemas.openxmlformats.org/drawingml/2006/main">
              <a:spcAft>
                <a:spcPts val="300"/>
              </a:spcAft>
              <a:defRPr sz="1200">
                <a:solidFill>
                  <a:srgbClr val="2C3E50"/>
                </a:solidFill>
                <a:latin typeface="微软雅黑" panose="020B0503020204020204" charset="-122"/>
              </a:defRPr>
            </a:pPr>
            <a:r xmlns:a="http://schemas.openxmlformats.org/drawingml/2006/main">
              <a:t>- 다중 에이전트 강화 학습(MARL)을 위한 적응형 인센티브 튜닝 - ISO/IEC JTC 1/SC 42 산업 표준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03504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ctr">
              <a:defRPr sz="2800" b="1">
                <a:solidFill>
                  <a:srgbClr val="1A527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감사합니다! 궁금한 점이 있으면 언제든지 질문해주세요.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114800" y="6583680"/>
            <a:ext cx="3931920" cy="0"/>
          </a:xfrm>
          <a:prstGeom prst="line">
            <a:avLst/>
          </a:prstGeom>
          <a:ln w="12700">
            <a:solidFill>
              <a:srgbClr val="1A527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xmlns:a="http://schemas.openxmlformats.org/drawingml/2006/main" algn="r">
              <a:defRPr sz="1000" b="0">
                <a:solidFill>
                  <a:srgbClr val="95A5A6"/>
                </a:solidFill>
                <a:latin typeface="微软雅黑" panose="020B0503020204020204" charset="-122"/>
              </a:defRPr>
            </a:pPr>
            <a:r xmlns:a="http://schemas.openxmlformats.org/drawingml/2006/main">
              <a:t>12</a:t>
            </a: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2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3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4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5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6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7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8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9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10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11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12.xml><?xml version="1.0" encoding="utf-8"?>
<p:tagLst xmlns:p="http://schemas.openxmlformats.org/presentationml/2006/main">
  <p:tag name="KSO_WM_DIAGRAM_VIRTUALLY_FRAME" val="{&quot;height&quot;:396,&quot;left&quot;:36,&quot;top&quot;:108,&quot;width&quot;:885.6}"/>
</p:tagLst>
</file>

<file path=ppt/tags/tag13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14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15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16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17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18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19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20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21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ags/tag22.xml><?xml version="1.0" encoding="utf-8"?>
<p:tagLst xmlns:p="http://schemas.openxmlformats.org/presentationml/2006/main">
  <p:tag name="KSO_WM_DIAGRAM_VIRTUALLY_FRAME" val="{&quot;height&quot;:237.59992125984255,&quot;left&quot;:50.4,&quot;top&quot;:106.55999999999999,&quot;width&quot;:842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7041</Words>
  <Application>WPS 演示</Application>
  <PresentationFormat>On-screen Show (4:3)</PresentationFormat>
  <Paragraphs>504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2" baseType="lpstr">
      <vt:lpstr>Arial</vt:lpstr>
      <vt:lpstr>宋体</vt:lpstr>
      <vt:lpstr>Wingdings</vt:lpstr>
      <vt:lpstr>Arial</vt:lpstr>
      <vt:lpstr>微软雅黑</vt:lpstr>
      <vt:lpstr>Consolas</vt:lpstr>
      <vt:lpstr>Calibri</vt:lpstr>
      <vt:lpstr>Arial Unicode MS</vt:lpstr>
      <vt:lpstr>Malgun Gothic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晴舒曦</cp:lastModifiedBy>
  <cp:revision>4</cp:revision>
  <dcterms:created xsi:type="dcterms:W3CDTF">2013-01-27T09:14:00Z</dcterms:created>
  <dcterms:modified xsi:type="dcterms:W3CDTF">2026-06-05T00:56:00Z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9A3775D2D8084AC49358B8B6B5E3EF67_12</vt:lpwstr>
  </property>
  <property fmtid="{D5CDD505-2E9C-101B-9397-08002B2CF9AE}" pid="3" name="KSOProductBuildVer">
    <vt:lpwstr>2052-12.1.0.25225</vt:lpwstr>
  </property>
</Properties>
</file>